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72" r:id="rId39"/>
    <p:sldId id="273" r:id="rId40"/>
    <p:sldId id="265" r:id="rId9"/>
    <p:sldId id="266" r:id="rId10"/>
    <p:sldId id="271" r:id="rId11"/>
    <p:sldId id="270" r:id="rId12"/>
  </p:sldIdLst>
  <p:sldSz cx="9144000" cy="6858000" type="screen4x3"/>
  <p:notesSz cx="6858000" cy="9144000"/>
  <p:embeddedFontLst>
    <p:embeddedFont>
      <p:font typeface="Century Schoolbook" panose="02040604050505020304" pitchFamily="18" charset="0"/>
      <p:regular r:id="rId15"/>
      <p:bold r:id="rId16"/>
      <p:italic r:id="rId17"/>
      <p:boldItalic r:id="rId18"/>
    </p:embeddedFont>
    <p:embeddedFont>
      <p:font typeface="Roboto" panose="020B0604020202020204" charset="0"/>
      <p:regular r:id="rId19"/>
      <p:bold r:id="rId20"/>
      <p:italic r:id="rId21"/>
      <p:boldItalic r:id="rId22"/>
    </p:embeddedFont>
    <p:embeddedFont>
      <p:font typeface="Calibri" panose="020F0502020204030204" pitchFamily="34" charset="0"/>
      <p:regular r:id="rId23"/>
      <p:bold r:id="rId24"/>
      <p:italic r:id="rId25"/>
      <p:boldItalic r:id="rId26"/>
    </p:embeddedFont>
    <p:embeddedFont>
      <p:font typeface="Bookman Old Style" panose="02050604050505020204" pitchFamily="18" charset="0"/>
      <p:regular r:id="rId27"/>
      <p:bold r:id="rId28"/>
      <p:italic r:id="rId29"/>
      <p:boldItalic r:id="rId30"/>
    </p:embeddedFont>
    <p:embeddedFont>
      <p:font typeface="Cambria Math" panose="02040503050406030204" pitchFamily="18" charset="0"/>
      <p:regular r:id="rId31"/>
    </p:embeddedFont>
    <p:embeddedFont>
      <p:font typeface="Arial Black" panose="020B0A04020102020204" pitchFamily="3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QmHZMLQPRrBnjCO/7tdUMXWB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3A9E66-F23F-4685-8762-FB8163C4B72E}">
  <a:tblStyle styleId="{803A9E66-F23F-4685-8762-FB8163C4B72E}"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CEC"/>
          </a:solidFill>
        </a:fill>
      </a:tcStyle>
    </a:wholeTbl>
    <a:band1H>
      <a:tcTxStyle b="off" i="off"/>
      <a:tcStyle>
        <a:tcBdr/>
        <a:fill>
          <a:solidFill>
            <a:srgbClr val="D6D6D6"/>
          </a:solidFill>
        </a:fill>
      </a:tcStyle>
    </a:band1H>
    <a:band2H>
      <a:tcTxStyle b="off" i="off"/>
      <a:tcStyle>
        <a:tcBdr/>
      </a:tcStyle>
    </a:band2H>
    <a:band1V>
      <a:tcTxStyle b="off" i="off"/>
      <a:tcStyle>
        <a:tcBdr/>
        <a:fill>
          <a:solidFill>
            <a:srgbClr val="D6D6D6"/>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4" d="100"/>
          <a:sy n="104" d="100"/>
        </p:scale>
        <p:origin x="1746"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font" Target="fonts/font14.fntdata"/><Relationship Id="rId29" Type="http://schemas.openxmlformats.org/officeDocument/2006/relationships/font" Target="fonts/font15.fntdata"/><Relationship Id="rId30" Type="http://schemas.openxmlformats.org/officeDocument/2006/relationships/font" Target="fonts/font16.fntdata"/><Relationship Id="rId31" Type="http://schemas.openxmlformats.org/officeDocument/2006/relationships/font" Target="fonts/font17.fntdata"/><Relationship Id="rId32" Type="http://schemas.openxmlformats.org/officeDocument/2006/relationships/font" Target="fonts/font18.fntdata"/><Relationship Id="rId33" Type="http://schemas.openxmlformats.org/officeDocument/2006/relationships/font" Target="fonts/font19.fntdata"/><Relationship Id="rId34" Type="http://customschemas.google.com/relationships/presentationmetadata" Target="metadata"/><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12.xml"/><Relationship Id="rId40"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7811BD-A0D9-3EE1-9407-F337868D4E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BC4D7B2-6F3E-59DD-FDFE-E247263ACC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66054B-70BE-4932-BEB3-9E86882DF594}" type="datetimeFigureOut">
              <a:rPr lang="en-IN" smtClean="0"/>
              <a:t>27-08-2026</a:t>
            </a:fld>
            <a:endParaRPr lang="en-IN"/>
          </a:p>
        </p:txBody>
      </p:sp>
      <p:sp>
        <p:nvSpPr>
          <p:cNvPr id="4" name="Footer Placeholder 3">
            <a:extLst>
              <a:ext uri="{FF2B5EF4-FFF2-40B4-BE49-F238E27FC236}">
                <a16:creationId xmlns:a16="http://schemas.microsoft.com/office/drawing/2014/main" id="{754A9260-E315-894A-7727-A05541FBBE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958F91D-4B89-2E4F-8540-19748FE84C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3BCD33-6147-403D-AA0A-457D67530F69}" type="slidenum">
              <a:rPr lang="en-IN" smtClean="0"/>
              <a:t>‹#›</a:t>
            </a:fld>
            <a:endParaRPr lang="en-IN"/>
          </a:p>
        </p:txBody>
      </p:sp>
    </p:spTree>
    <p:extLst>
      <p:ext uri="{BB962C8B-B14F-4D97-AF65-F5344CB8AC3E}">
        <p14:creationId xmlns:p14="http://schemas.microsoft.com/office/powerpoint/2010/main" val="65616723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CCBA4D25-6967-8978-CCBC-4EF6EE848CA6}"/>
              </a:ext>
            </a:extLst>
          </p:cNvPr>
          <p:cNvSpPr>
            <a:spLocks noGrp="1"/>
          </p:cNvSpPr>
          <p:nvPr>
            <p:ph type="ftr" idx="11"/>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7074EA8F-8FF2-29B5-64D1-F4B7A4A18E55}"/>
              </a:ext>
            </a:extLst>
          </p:cNvPr>
          <p:cNvSpPr>
            <a:spLocks noGrp="1"/>
          </p:cNvSpPr>
          <p:nvPr>
            <p:ph type="ftr" idx="11"/>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64a40ef39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64a40ef39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3a64a40ef39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a:t>
            </a:fld>
            <a:endParaRPr/>
          </a:p>
        </p:txBody>
      </p:sp>
      <p:sp>
        <p:nvSpPr>
          <p:cNvPr id="2" name="Footer Placeholder 1">
            <a:extLst>
              <a:ext uri="{FF2B5EF4-FFF2-40B4-BE49-F238E27FC236}">
                <a16:creationId xmlns:a16="http://schemas.microsoft.com/office/drawing/2014/main" id="{6F0F4788-8663-2B40-A8DA-EE16EAE36F31}"/>
              </a:ext>
            </a:extLst>
          </p:cNvPr>
          <p:cNvSpPr>
            <a:spLocks noGrp="1"/>
          </p:cNvSpPr>
          <p:nvPr>
            <p:ph type="ftr" idx="11"/>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64a40ef39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a64a40ef39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3" name="Google Shape;113;g3a64a40ef39_0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4</a:t>
            </a:fld>
            <a:endParaRPr/>
          </a:p>
        </p:txBody>
      </p:sp>
      <p:sp>
        <p:nvSpPr>
          <p:cNvPr id="2" name="Footer Placeholder 1">
            <a:extLst>
              <a:ext uri="{FF2B5EF4-FFF2-40B4-BE49-F238E27FC236}">
                <a16:creationId xmlns:a16="http://schemas.microsoft.com/office/drawing/2014/main" id="{5EFB580A-CC69-A1EB-4334-4953B4EE2FD8}"/>
              </a:ext>
            </a:extLst>
          </p:cNvPr>
          <p:cNvSpPr>
            <a:spLocks noGrp="1"/>
          </p:cNvSpPr>
          <p:nvPr>
            <p:ph type="ftr" idx="11"/>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64a40ef39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64a40ef39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3a64a40ef39_0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5</a:t>
            </a:fld>
            <a:endParaRPr/>
          </a:p>
        </p:txBody>
      </p:sp>
      <p:sp>
        <p:nvSpPr>
          <p:cNvPr id="2" name="Footer Placeholder 1">
            <a:extLst>
              <a:ext uri="{FF2B5EF4-FFF2-40B4-BE49-F238E27FC236}">
                <a16:creationId xmlns:a16="http://schemas.microsoft.com/office/drawing/2014/main" id="{D5213BD1-B11C-93D9-2812-FBB33D60BFE5}"/>
              </a:ext>
            </a:extLst>
          </p:cNvPr>
          <p:cNvSpPr>
            <a:spLocks noGrp="1"/>
          </p:cNvSpPr>
          <p:nvPr>
            <p:ph type="ftr" idx="11"/>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64a40ef39_2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64a40ef39_2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3a64a40ef39_2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6</a:t>
            </a:fld>
            <a:endParaRPr/>
          </a:p>
        </p:txBody>
      </p:sp>
      <p:sp>
        <p:nvSpPr>
          <p:cNvPr id="2" name="Footer Placeholder 1">
            <a:extLst>
              <a:ext uri="{FF2B5EF4-FFF2-40B4-BE49-F238E27FC236}">
                <a16:creationId xmlns:a16="http://schemas.microsoft.com/office/drawing/2014/main" id="{606A092B-DDD9-08B8-88C0-92F7E428261A}"/>
              </a:ext>
            </a:extLst>
          </p:cNvPr>
          <p:cNvSpPr>
            <a:spLocks noGrp="1"/>
          </p:cNvSpPr>
          <p:nvPr>
            <p:ph type="ftr" idx="11"/>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64a40ef39_2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7</a:t>
            </a:fld>
            <a:endParaRPr/>
          </a:p>
        </p:txBody>
      </p:sp>
      <p:sp>
        <p:nvSpPr>
          <p:cNvPr id="2" name="Footer Placeholder 1">
            <a:extLst>
              <a:ext uri="{FF2B5EF4-FFF2-40B4-BE49-F238E27FC236}">
                <a16:creationId xmlns:a16="http://schemas.microsoft.com/office/drawing/2014/main" id="{E994FE26-81B1-ABCB-5078-0084A1BDBE06}"/>
              </a:ext>
            </a:extLst>
          </p:cNvPr>
          <p:cNvSpPr>
            <a:spLocks noGrp="1"/>
          </p:cNvSpPr>
          <p:nvPr>
            <p:ph type="ftr" idx="11"/>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64a40ef39_2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a64a40ef39_2_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a64a40ef39_2_3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8</a:t>
            </a:fld>
            <a:endParaRPr/>
          </a:p>
        </p:txBody>
      </p:sp>
      <p:sp>
        <p:nvSpPr>
          <p:cNvPr id="2" name="Footer Placeholder 1">
            <a:extLst>
              <a:ext uri="{FF2B5EF4-FFF2-40B4-BE49-F238E27FC236}">
                <a16:creationId xmlns:a16="http://schemas.microsoft.com/office/drawing/2014/main" id="{DEAE2A33-4FB0-FEB2-45EC-843A6AB61038}"/>
              </a:ext>
            </a:extLst>
          </p:cNvPr>
          <p:cNvSpPr>
            <a:spLocks noGrp="1"/>
          </p:cNvSpPr>
          <p:nvPr>
            <p:ph type="ftr" idx="11"/>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a64a40ef39_2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a64a40ef39_2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3a64a40ef39_2_3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9</a:t>
            </a:fld>
            <a:endParaRPr/>
          </a:p>
        </p:txBody>
      </p:sp>
      <p:sp>
        <p:nvSpPr>
          <p:cNvPr id="2" name="Footer Placeholder 1">
            <a:extLst>
              <a:ext uri="{FF2B5EF4-FFF2-40B4-BE49-F238E27FC236}">
                <a16:creationId xmlns:a16="http://schemas.microsoft.com/office/drawing/2014/main" id="{572C23AA-E5AB-0C7F-55C3-BA5A4327107C}"/>
              </a:ext>
            </a:extLst>
          </p:cNvPr>
          <p:cNvSpPr>
            <a:spLocks noGrp="1"/>
          </p:cNvSpPr>
          <p:nvPr>
            <p:ph type="ftr" idx="11"/>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64a40ef39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a64a40ef39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g3a64a40ef39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11</a:t>
            </a:fld>
            <a:endParaRPr/>
          </a:p>
        </p:txBody>
      </p:sp>
      <p:sp>
        <p:nvSpPr>
          <p:cNvPr id="2" name="Footer Placeholder 1">
            <a:extLst>
              <a:ext uri="{FF2B5EF4-FFF2-40B4-BE49-F238E27FC236}">
                <a16:creationId xmlns:a16="http://schemas.microsoft.com/office/drawing/2014/main" id="{4F053429-B8AC-800A-1E90-CBBEA9786FC9}"/>
              </a:ext>
            </a:extLst>
          </p:cNvPr>
          <p:cNvSpPr>
            <a:spLocks noGrp="1"/>
          </p:cNvSpPr>
          <p:nvPr>
            <p:ph type="ftr" idx="11"/>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5"/>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subTitle" idx="1"/>
          </p:nvPr>
        </p:nvSpPr>
        <p:spPr>
          <a:xfrm>
            <a:off x="457200" y="4800600"/>
            <a:ext cx="6858000" cy="914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lnSpc>
                <a:spcPct val="100000"/>
              </a:lnSpc>
              <a:spcBef>
                <a:spcPts val="600"/>
              </a:spcBef>
              <a:spcAft>
                <a:spcPts val="0"/>
              </a:spcAft>
              <a:buSzPts val="2000"/>
              <a:buNone/>
              <a:defRPr>
                <a:solidFill>
                  <a:srgbClr val="888888"/>
                </a:solidFill>
              </a:defRPr>
            </a:lvl2pPr>
            <a:lvl3pPr lvl="2" algn="ctr">
              <a:lnSpc>
                <a:spcPct val="100000"/>
              </a:lnSpc>
              <a:spcBef>
                <a:spcPts val="360"/>
              </a:spcBef>
              <a:spcAft>
                <a:spcPts val="0"/>
              </a:spcAft>
              <a:buSzPts val="1800"/>
              <a:buNone/>
              <a:defRPr>
                <a:solidFill>
                  <a:srgbClr val="888888"/>
                </a:solidFill>
              </a:defRPr>
            </a:lvl3pPr>
            <a:lvl4pPr lvl="3" algn="ctr">
              <a:lnSpc>
                <a:spcPct val="100000"/>
              </a:lnSpc>
              <a:spcBef>
                <a:spcPts val="360"/>
              </a:spcBef>
              <a:spcAft>
                <a:spcPts val="0"/>
              </a:spcAft>
              <a:buSzPts val="1800"/>
              <a:buNone/>
              <a:defRPr>
                <a:solidFill>
                  <a:srgbClr val="888888"/>
                </a:solidFill>
              </a:defRPr>
            </a:lvl4pPr>
            <a:lvl5pPr lvl="4" algn="ctr">
              <a:lnSpc>
                <a:spcPct val="100000"/>
              </a:lnSpc>
              <a:spcBef>
                <a:spcPts val="360"/>
              </a:spcBef>
              <a:spcAft>
                <a:spcPts val="0"/>
              </a:spcAft>
              <a:buSzPts val="18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a:endParaRPr/>
          </a:p>
        </p:txBody>
      </p:sp>
      <p:sp>
        <p:nvSpPr>
          <p:cNvPr id="20" name="Google Shape;20;p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22" name="Google Shape;22;p5"/>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23;p5"/>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 name="Google Shape;24;p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 name="Google Shape;28;p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30" name="Google Shape;30;p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457200" y="1447800"/>
            <a:ext cx="77724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body" idx="1"/>
          </p:nvPr>
        </p:nvSpPr>
        <p:spPr>
          <a:xfrm>
            <a:off x="457200" y="228601"/>
            <a:ext cx="7772400" cy="10668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lnSpc>
                <a:spcPct val="100000"/>
              </a:lnSpc>
              <a:spcBef>
                <a:spcPts val="60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228600" algn="l">
              <a:lnSpc>
                <a:spcPct val="100000"/>
              </a:lnSpc>
              <a:spcBef>
                <a:spcPts val="280"/>
              </a:spcBef>
              <a:spcAft>
                <a:spcPts val="0"/>
              </a:spcAft>
              <a:buSzPts val="1400"/>
              <a:buNone/>
              <a:defRPr sz="1400">
                <a:solidFill>
                  <a:srgbClr val="888888"/>
                </a:solidFill>
              </a:defRPr>
            </a:lvl6pPr>
            <a:lvl7pPr marL="3200400" lvl="6" indent="-228600" algn="l">
              <a:lnSpc>
                <a:spcPct val="100000"/>
              </a:lnSpc>
              <a:spcBef>
                <a:spcPts val="280"/>
              </a:spcBef>
              <a:spcAft>
                <a:spcPts val="0"/>
              </a:spcAft>
              <a:buSzPts val="1400"/>
              <a:buNone/>
              <a:defRPr sz="1400">
                <a:solidFill>
                  <a:srgbClr val="888888"/>
                </a:solidFill>
              </a:defRPr>
            </a:lvl7pPr>
            <a:lvl8pPr marL="3657600" lvl="7" indent="-228600" algn="l">
              <a:lnSpc>
                <a:spcPct val="100000"/>
              </a:lnSpc>
              <a:spcBef>
                <a:spcPts val="280"/>
              </a:spcBef>
              <a:spcAft>
                <a:spcPts val="0"/>
              </a:spcAft>
              <a:buSzPts val="1400"/>
              <a:buNone/>
              <a:defRPr sz="1400">
                <a:solidFill>
                  <a:srgbClr val="888888"/>
                </a:solidFill>
              </a:defRPr>
            </a:lvl8pPr>
            <a:lvl9pPr marL="4114800" lvl="8" indent="-228600" algn="l">
              <a:lnSpc>
                <a:spcPct val="100000"/>
              </a:lnSpc>
              <a:spcBef>
                <a:spcPts val="280"/>
              </a:spcBef>
              <a:spcAft>
                <a:spcPts val="0"/>
              </a:spcAft>
              <a:buSzPts val="1400"/>
              <a:buNone/>
              <a:defRPr sz="1400">
                <a:solidFill>
                  <a:srgbClr val="888888"/>
                </a:solidFill>
              </a:defRPr>
            </a:lvl9pPr>
          </a:lstStyle>
          <a:p>
            <a:endParaRPr/>
          </a:p>
        </p:txBody>
      </p:sp>
      <p:sp>
        <p:nvSpPr>
          <p:cNvPr id="34" name="Google Shape;34;p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36" name="Google Shape;36;p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8"/>
          <p:cNvSpPr txBox="1">
            <a:spLocks noGrp="1"/>
          </p:cNvSpPr>
          <p:nvPr>
            <p:ph type="body" idx="1"/>
          </p:nvPr>
        </p:nvSpPr>
        <p:spPr>
          <a:xfrm>
            <a:off x="163068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0" name="Google Shape;40;p8"/>
          <p:cNvSpPr txBox="1">
            <a:spLocks noGrp="1"/>
          </p:cNvSpPr>
          <p:nvPr>
            <p:ph type="body" idx="2"/>
          </p:nvPr>
        </p:nvSpPr>
        <p:spPr>
          <a:xfrm>
            <a:off x="509016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1" name="Google Shape;41;p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43" name="Google Shape;43;p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36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1627632"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7" name="Google Shape;47;p9"/>
          <p:cNvSpPr txBox="1">
            <a:spLocks noGrp="1"/>
          </p:cNvSpPr>
          <p:nvPr>
            <p:ph type="body" idx="2"/>
          </p:nvPr>
        </p:nvSpPr>
        <p:spPr>
          <a:xfrm>
            <a:off x="1627632"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48" name="Google Shape;48;p9"/>
          <p:cNvSpPr txBox="1">
            <a:spLocks noGrp="1"/>
          </p:cNvSpPr>
          <p:nvPr>
            <p:ph type="body" idx="3"/>
          </p:nvPr>
        </p:nvSpPr>
        <p:spPr>
          <a:xfrm>
            <a:off x="5093208"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9"/>
          <p:cNvSpPr txBox="1">
            <a:spLocks noGrp="1"/>
          </p:cNvSpPr>
          <p:nvPr>
            <p:ph type="body" idx="4"/>
          </p:nvPr>
        </p:nvSpPr>
        <p:spPr>
          <a:xfrm>
            <a:off x="5093208"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9"/>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52" name="Google Shape;52;p9"/>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0"/>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57" name="Google Shape;57;p10"/>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61" name="Google Shape;61;p11"/>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2"/>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640"/>
              </a:spcBef>
              <a:spcAft>
                <a:spcPts val="0"/>
              </a:spcAft>
              <a:buClr>
                <a:schemeClr val="dk1"/>
              </a:buClr>
              <a:buSzPts val="3200"/>
              <a:buNone/>
              <a:defRPr sz="3200"/>
            </a:lvl1pPr>
            <a:lvl2pPr marL="914400" lvl="1" indent="-406400" algn="l">
              <a:lnSpc>
                <a:spcPct val="100000"/>
              </a:lnSpc>
              <a:spcBef>
                <a:spcPts val="60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64" name="Google Shape;64;p12"/>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5" name="Google Shape;65;p12"/>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67" name="Google Shape;67;p12"/>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68" name="Google Shape;68;p1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9"/>
        <p:cNvGrpSpPr/>
        <p:nvPr/>
      </p:nvGrpSpPr>
      <p:grpSpPr>
        <a:xfrm>
          <a:off x="0" y="0"/>
          <a:ext cx="0" cy="0"/>
          <a:chOff x="0" y="0"/>
          <a:chExt cx="0" cy="0"/>
        </a:xfrm>
      </p:grpSpPr>
      <p:sp>
        <p:nvSpPr>
          <p:cNvPr id="70" name="Google Shape;70;p13"/>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1" name="Google Shape;71;p13"/>
          <p:cNvSpPr>
            <a:spLocks noGrp="1"/>
          </p:cNvSpPr>
          <p:nvPr>
            <p:ph type="pic" idx="2"/>
          </p:nvPr>
        </p:nvSpPr>
        <p:spPr>
          <a:xfrm>
            <a:off x="-1" y="0"/>
            <a:ext cx="9000877" cy="4846320"/>
          </a:xfrm>
          <a:prstGeom prst="rect">
            <a:avLst/>
          </a:prstGeom>
          <a:solidFill>
            <a:srgbClr val="BFBFBF"/>
          </a:solidFill>
          <a:ln>
            <a:noFill/>
          </a:ln>
        </p:spPr>
      </p:sp>
      <p:sp>
        <p:nvSpPr>
          <p:cNvPr id="72" name="Google Shape;72;p13"/>
          <p:cNvSpPr txBox="1">
            <a:spLocks noGrp="1"/>
          </p:cNvSpPr>
          <p:nvPr>
            <p:ph type="body" idx="1"/>
          </p:nvPr>
        </p:nvSpPr>
        <p:spPr>
          <a:xfrm>
            <a:off x="457200" y="5715000"/>
            <a:ext cx="81534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3" name="Google Shape;73;p1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75" name="Google Shape;75;p13"/>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76" name="Google Shape;76;p13"/>
          <p:cNvSpPr txBox="1">
            <a:spLocks noGrp="1"/>
          </p:cNvSpPr>
          <p:nvPr>
            <p:ph type="title"/>
          </p:nvPr>
        </p:nvSpPr>
        <p:spPr>
          <a:xfrm>
            <a:off x="457200" y="4953000"/>
            <a:ext cx="8153400" cy="762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2"/>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4"/>
          <p:cNvSpPr txBox="1">
            <a:spLocks noGrp="1"/>
          </p:cNvSpPr>
          <p:nvPr>
            <p:ph type="body" idx="1"/>
          </p:nvPr>
        </p:nvSpPr>
        <p:spPr>
          <a:xfrm rot="5400000">
            <a:off x="2080419" y="129382"/>
            <a:ext cx="4373563" cy="7620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1" name="Google Shape;81;p1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83" name="Google Shape;83;p1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7" name="Google Shape;87;p1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smtClean="0"/>
              <a:t>Dept. of CSE,BMSIT&amp;M                       7th Semester, MAJOR PROJECT PHASE-2 (BCS705) REVIEW ‘1                             AY : 2026-27 </a:t>
            </a:r>
            <a:endParaRPr/>
          </a:p>
        </p:txBody>
      </p:sp>
      <p:sp>
        <p:nvSpPr>
          <p:cNvPr id="89" name="Google Shape;89;p1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lnSpc>
                <a:spcPct val="100000"/>
              </a:lnSpc>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smtClean="0"/>
              <a:t>Dept. of CSE,BMSIT&amp;M                       7th Semester, MAJOR PROJECT PHASE-2 (BCS705) REVIEW ‘1                             AY : 2026-27 </a:t>
            </a:r>
            <a:endParaRPr/>
          </a:p>
        </p:txBody>
      </p:sp>
      <p:sp>
        <p:nvSpPr>
          <p:cNvPr id="14" name="Google Shape;14;p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5" name="Google Shape;15;p4"/>
          <p:cNvSpPr/>
          <p:nvPr/>
        </p:nvSpPr>
        <p:spPr>
          <a:xfrm>
            <a:off x="9001124" y="0"/>
            <a:ext cx="142876"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 name="Google Shape;16;p4"/>
          <p:cNvSpPr/>
          <p:nvPr/>
        </p:nvSpPr>
        <p:spPr>
          <a:xfrm>
            <a:off x="9001124" y="1371600"/>
            <a:ext cx="142876"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
          <p:cNvSpPr txBox="1">
            <a:spLocks noGrp="1"/>
          </p:cNvSpPr>
          <p:nvPr>
            <p:ph type="subTitle" idx="1"/>
          </p:nvPr>
        </p:nvSpPr>
        <p:spPr>
          <a:xfrm>
            <a:off x="457201" y="1336869"/>
            <a:ext cx="8245474" cy="5126729"/>
          </a:xfrm>
          <a:prstGeom prst="rect">
            <a:avLst/>
          </a:prstGeom>
          <a:noFill/>
          <a:ln>
            <a:noFill/>
          </a:ln>
        </p:spPr>
        <p:txBody>
          <a:bodyPr spcFirstLastPara="1" wrap="square" lIns="36576" tIns="36576" rIns="36576" bIns="36576" anchor="t" anchorCtr="0">
            <a:normAutofit fontScale="70000" lnSpcReduction="20000"/>
          </a:bodyPr>
          <a:lstStyle/>
          <a:p>
            <a:pPr marL="0" indent="0" algn="ctr">
              <a:spcBef>
                <a:spcPts val="0"/>
              </a:spcBef>
              <a:spcAft>
                <a:spcPts val="0"/>
              </a:spcAft>
              <a:buSzPct val="100000"/>
            </a:pPr>
            <a:r>
              <a:rPr sz="2000" b="1">
                <a:solidFill>
                  <a:srgbClr val="7030A0"/>
                </a:solidFill>
                <a:latin typeface="Century Schoolbook"/>
              </a:rPr>
              <a:t>7th Semester, Major Project Phase-2 (BCS705)</a:t>
            </a:r>
          </a:p>
          <a:p>
            <a:pPr algn="ctr">
              <a:spcAft>
                <a:spcPts val="300"/>
              </a:spcAft>
            </a:pPr>
            <a:r>
              <a:rPr sz="1800" b="1">
                <a:solidFill>
                  <a:srgbClr val="7030A0"/>
                </a:solidFill>
                <a:latin typeface="Century Schoolbook"/>
              </a:rPr>
              <a:t>Review – 1 Presentation on</a:t>
            </a:r>
          </a:p>
          <a:p>
            <a:pPr algn="ctr">
              <a:spcAft>
                <a:spcPts val="0"/>
              </a:spcAft>
            </a:pPr>
            <a:r>
              <a:rPr sz="2500" b="1">
                <a:solidFill>
                  <a:srgbClr val="000000"/>
                </a:solidFill>
                <a:latin typeface="Century Schoolbook"/>
              </a:rPr>
              <a:t>FORGEWEB</a:t>
            </a:r>
          </a:p>
          <a:p>
            <a:pPr algn="ctr">
              <a:spcAft>
                <a:spcPts val="300"/>
              </a:spcAft>
            </a:pPr>
            <a:r>
              <a:rPr sz="1800" b="1">
                <a:solidFill>
                  <a:srgbClr val="000000"/>
                </a:solidFill>
                <a:latin typeface="Century Schoolbook"/>
              </a:rPr>
              <a:t>Architecture-First Full-Stack Web Application Generator</a:t>
            </a:r>
          </a:p>
          <a:p>
            <a:pPr algn="ctr">
              <a:spcAft>
                <a:spcPts val="0"/>
              </a:spcAft>
            </a:pPr>
            <a:r>
              <a:rPr sz="1400" b="1">
                <a:solidFill>
                  <a:srgbClr val="000000"/>
                </a:solidFill>
                <a:latin typeface="Century Schoolbook"/>
              </a:rPr>
              <a:t>[Student Name 1] ([USN 1])</a:t>
            </a:r>
          </a:p>
          <a:p>
            <a:pPr algn="ctr">
              <a:spcAft>
                <a:spcPts val="0"/>
              </a:spcAft>
            </a:pPr>
            <a:r>
              <a:rPr sz="1400" b="1">
                <a:solidFill>
                  <a:srgbClr val="000000"/>
                </a:solidFill>
                <a:latin typeface="Century Schoolbook"/>
              </a:rPr>
              <a:t>[Student Name 2] ([USN 2])</a:t>
            </a:r>
          </a:p>
          <a:p>
            <a:pPr algn="ctr">
              <a:spcAft>
                <a:spcPts val="0"/>
              </a:spcAft>
            </a:pPr>
            <a:r>
              <a:rPr sz="1400" b="1">
                <a:solidFill>
                  <a:srgbClr val="000000"/>
                </a:solidFill>
                <a:latin typeface="Century Schoolbook"/>
              </a:rPr>
              <a:t>[Student Name 3] ([USN 3])</a:t>
            </a:r>
          </a:p>
          <a:p>
            <a:pPr algn="ctr">
              <a:spcAft>
                <a:spcPts val="300"/>
              </a:spcAft>
            </a:pPr>
            <a:r>
              <a:rPr sz="1400" b="1">
                <a:solidFill>
                  <a:srgbClr val="000000"/>
                </a:solidFill>
                <a:latin typeface="Century Schoolbook"/>
              </a:rPr>
              <a:t>[Student Name 4] ([USN 4])</a:t>
            </a:r>
          </a:p>
          <a:p>
            <a:pPr algn="ctr">
              <a:spcAft>
                <a:spcPts val="0"/>
              </a:spcAft>
            </a:pPr>
            <a:r>
              <a:rPr sz="1300" b="1">
                <a:solidFill>
                  <a:srgbClr val="0070C0"/>
                </a:solidFill>
                <a:latin typeface="Century Schoolbook"/>
              </a:rPr>
              <a:t>VII SEMESTER DEGREE OF BACHELOR OF ENGINEERING IN</a:t>
            </a:r>
          </a:p>
          <a:p>
            <a:pPr algn="ctr">
              <a:spcAft>
                <a:spcPts val="300"/>
              </a:spcAft>
            </a:pPr>
            <a:r>
              <a:rPr sz="1400" b="1">
                <a:solidFill>
                  <a:srgbClr val="7030A0"/>
                </a:solidFill>
                <a:latin typeface="Century Schoolbook"/>
              </a:rPr>
              <a:t>COMPUTER SCIENCE AND ENGINEERING</a:t>
            </a:r>
          </a:p>
          <a:p>
            <a:pPr algn="ctr">
              <a:spcAft>
                <a:spcPts val="0"/>
              </a:spcAft>
            </a:pPr>
            <a:r>
              <a:rPr sz="1300" b="1">
                <a:solidFill>
                  <a:srgbClr val="000000"/>
                </a:solidFill>
                <a:latin typeface="Century Schoolbook"/>
              </a:rPr>
              <a:t>UNDER THE GUIDANCE OF</a:t>
            </a:r>
          </a:p>
          <a:p>
            <a:pPr algn="ctr">
              <a:spcAft>
                <a:spcPts val="0"/>
              </a:spcAft>
            </a:pPr>
            <a:r>
              <a:rPr sz="1500" b="1">
                <a:solidFill>
                  <a:srgbClr val="000000"/>
                </a:solidFill>
                <a:latin typeface="Century Schoolbook"/>
              </a:rPr>
              <a:t>[Guide Name]</a:t>
            </a:r>
          </a:p>
          <a:p>
            <a:pPr algn="ctr">
              <a:spcAft>
                <a:spcPts val="0"/>
              </a:spcAft>
            </a:pPr>
            <a:r>
              <a:rPr sz="1300" b="1">
                <a:solidFill>
                  <a:srgbClr val="7030A0"/>
                </a:solidFill>
                <a:latin typeface="Century Schoolbook"/>
              </a:rPr>
              <a:t>[Designation] • DEPT. OF CSE • BMSIT&amp;M</a:t>
            </a:r>
          </a:p>
        </p:txBody>
      </p:sp>
      <p:pic>
        <p:nvPicPr>
          <p:cNvPr id="1026" name="Picture 2" descr="VTU online">
            <a:extLst>
              <a:ext uri="{FF2B5EF4-FFF2-40B4-BE49-F238E27FC236}">
                <a16:creationId xmlns:a16="http://schemas.microsoft.com/office/drawing/2014/main" id="{4410DB29-14E2-4208-772F-E71545D76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368" y="79423"/>
            <a:ext cx="792307" cy="1022833"/>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14899319-A280-BCC3-AB6E-BB354C9237D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1</a:t>
            </a:fld>
            <a:endParaRPr lang="en-IN"/>
          </a:p>
        </p:txBody>
      </p:sp>
      <p:sp>
        <p:nvSpPr>
          <p:cNvPr id="7" name="Footer Placeholder 6">
            <a:extLst>
              <a:ext uri="{FF2B5EF4-FFF2-40B4-BE49-F238E27FC236}">
                <a16:creationId xmlns:a16="http://schemas.microsoft.com/office/drawing/2014/main" id="{7F44B29C-F20D-B128-BE1D-1EC7A958D1B4}"/>
              </a:ext>
            </a:extLst>
          </p:cNvPr>
          <p:cNvSpPr>
            <a:spLocks noGrp="1"/>
          </p:cNvSpPr>
          <p:nvPr>
            <p:ph type="ftr" idx="11"/>
          </p:nvPr>
        </p:nvSpPr>
        <p:spPr>
          <a:xfrm>
            <a:off x="203201" y="6492875"/>
            <a:ext cx="8499474" cy="283845"/>
          </a:xfrm>
        </p:spPr>
        <p:txBody>
          <a:bodyPr/>
          <a:lstStyle/>
          <a:p>
            <a:pPr lvl="0"/>
            <a:r>
              <a:rPr lang="en-US" smtClean="0"/>
              <a:t>Dept. of CSE,BMSIT&amp;M                       7th Semester, MAJOR PROJECT PHASE-2 (BCS705) REVIEW ‘1                             AY : 2026-27 </a:t>
            </a:r>
            <a:endParaRPr lang="en-IN" dirty="0"/>
          </a:p>
        </p:txBody>
      </p:sp>
      <p:pic>
        <p:nvPicPr>
          <p:cNvPr id="8" name="Picture 2" descr="logo"/>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75" t="9343" r="82084" b="10716"/>
          <a:stretch>
            <a:fillRect/>
          </a:stretch>
        </p:blipFill>
        <p:spPr bwMode="auto">
          <a:xfrm>
            <a:off x="396097" y="79423"/>
            <a:ext cx="1096908" cy="12057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logo"/>
          <p:cNvPicPr>
            <a:picLocks noChangeAspect="1" noChangeArrowheads="1"/>
          </p:cNvPicPr>
          <p:nvPr/>
        </p:nvPicPr>
        <p:blipFill rotWithShape="1">
          <a:blip r:embed="rId5">
            <a:extLst>
              <a:ext uri="{28A0092B-C50C-407E-A947-70E740481C1C}">
                <a14:useLocalDpi xmlns:a14="http://schemas.microsoft.com/office/drawing/2010/main" val="0"/>
              </a:ext>
            </a:extLst>
          </a:blip>
          <a:srcRect l="19272" t="9343" r="-1" b="10716"/>
          <a:stretch>
            <a:fillRect/>
          </a:stretch>
        </p:blipFill>
        <p:spPr bwMode="auto">
          <a:xfrm>
            <a:off x="1607938" y="157018"/>
            <a:ext cx="6196789" cy="11798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2"/>
              </a:buClr>
              <a:buSzPts val="3600"/>
              <a:buFont typeface="Century Schoolbook"/>
              <a:buNone/>
            </a:pPr>
            <a:r>
              <a:rPr lang="en-IN" b="1">
                <a:latin typeface="Century Schoolbook"/>
                <a:ea typeface="Century Schoolbook"/>
                <a:cs typeface="Century Schoolbook"/>
                <a:sym typeface="Century Schoolbook"/>
              </a:rPr>
              <a:t>CONTENT</a:t>
            </a:r>
            <a:br>
              <a:rPr lang="en-IN" b="1">
                <a:latin typeface="Century Schoolbook"/>
                <a:ea typeface="Century Schoolbook"/>
                <a:cs typeface="Century Schoolbook"/>
                <a:sym typeface="Century Schoolbook"/>
              </a:rPr>
            </a:br>
            <a:endParaRPr b="1">
              <a:latin typeface="Century Schoolbook"/>
              <a:ea typeface="Century Schoolbook"/>
              <a:cs typeface="Century Schoolbook"/>
              <a:sym typeface="Century Schoolbook"/>
            </a:endParaRPr>
          </a:p>
        </p:txBody>
      </p:sp>
      <p:sp>
        <p:nvSpPr>
          <p:cNvPr id="102" name="Google Shape;102;p2"/>
          <p:cNvSpPr txBox="1">
            <a:spLocks noGrp="1"/>
          </p:cNvSpPr>
          <p:nvPr>
            <p:ph type="body" idx="1"/>
          </p:nvPr>
        </p:nvSpPr>
        <p:spPr>
          <a:xfrm>
            <a:off x="457200" y="1041009"/>
            <a:ext cx="8229600" cy="5542671"/>
          </a:xfrm>
          <a:prstGeom prst="rect">
            <a:avLst/>
          </a:prstGeom>
          <a:noFill/>
          <a:ln>
            <a:noFill/>
          </a:ln>
        </p:spPr>
        <p:txBody>
          <a:bodyPr spcFirstLastPara="1" wrap="square" lIns="73152" tIns="73152" rIns="73152" bIns="73152" anchor="t" anchorCtr="0">
            <a:normAutofit fontScale="92500" lnSpcReduction="20000"/>
          </a:bodyPr>
          <a:lstStyle/>
          <a:p>
            <a:pPr marL="571500" lvl="0" indent="-557720" algn="l" rtl="0">
              <a:buNone/>
              <a:lnSpc>
                <a:spcPct val="100000"/>
              </a:lnSpc>
              <a:spcBef>
                <a:spcPts val="0"/>
              </a:spcBef>
              <a:spcAft>
                <a:spcPts val="600"/>
              </a:spcAft>
              <a:buClr>
                <a:schemeClr val="dk1"/>
              </a:buClr>
              <a:buSzPct val="100000"/>
              <a:buFont typeface="Cambria Math"/>
            </a:pPr>
            <a:r>
              <a:rPr sz="2200" b="0">
                <a:solidFill>
                  <a:srgbClr val="000000"/>
                </a:solidFill>
                <a:latin typeface="Times New Roman"/>
              </a:rPr>
              <a:t>• Abstract</a:t>
            </a:r>
            <a:endParaRPr sz="2900" b="0" dirty="0">
              <a:latin typeface="Times New Roman" panose="02020603050405020304" pitchFamily="18" charset="0"/>
              <a:ea typeface="Bookman Old Style"/>
              <a:cs typeface="Times New Roman" panose="02020603050405020304" pitchFamily="18" charset="0"/>
              <a:sym typeface="Bookman Old Style"/>
            </a:endParaRPr>
          </a:p>
          <a:p>
            <a:pPr algn="l">
              <a:lnSpc>
                <a:spcPct val="100000"/>
              </a:lnSpc>
              <a:spcAft>
                <a:spcPts val="600"/>
              </a:spcAft>
              <a:buNone/>
            </a:pPr>
            <a:r>
              <a:rPr sz="2200" b="0">
                <a:solidFill>
                  <a:srgbClr val="000000"/>
                </a:solidFill>
                <a:latin typeface="Times New Roman"/>
              </a:rPr>
              <a:t>• Introduction</a:t>
            </a:r>
          </a:p>
          <a:p>
            <a:pPr algn="l">
              <a:lnSpc>
                <a:spcPct val="100000"/>
              </a:lnSpc>
              <a:spcAft>
                <a:spcPts val="600"/>
              </a:spcAft>
              <a:buNone/>
            </a:pPr>
            <a:r>
              <a:rPr sz="2200" b="0">
                <a:solidFill>
                  <a:srgbClr val="000000"/>
                </a:solidFill>
                <a:latin typeface="Times New Roman"/>
              </a:rPr>
              <a:t>• Problem Statement</a:t>
            </a:r>
          </a:p>
          <a:p>
            <a:pPr algn="l">
              <a:lnSpc>
                <a:spcPct val="100000"/>
              </a:lnSpc>
              <a:spcAft>
                <a:spcPts val="600"/>
              </a:spcAft>
              <a:buNone/>
            </a:pPr>
            <a:r>
              <a:rPr sz="2200" b="0">
                <a:solidFill>
                  <a:srgbClr val="000000"/>
                </a:solidFill>
                <a:latin typeface="Times New Roman"/>
              </a:rPr>
              <a:t>• Objectives of the Work</a:t>
            </a:r>
          </a:p>
          <a:p>
            <a:pPr algn="l">
              <a:lnSpc>
                <a:spcPct val="100000"/>
              </a:lnSpc>
              <a:spcAft>
                <a:spcPts val="600"/>
              </a:spcAft>
              <a:buNone/>
            </a:pPr>
            <a:r>
              <a:rPr sz="2200" b="0">
                <a:solidFill>
                  <a:srgbClr val="000000"/>
                </a:solidFill>
                <a:latin typeface="Times New Roman"/>
              </a:rPr>
              <a:t>• Methodology</a:t>
            </a:r>
          </a:p>
          <a:p>
            <a:pPr algn="l">
              <a:lnSpc>
                <a:spcPct val="100000"/>
              </a:lnSpc>
              <a:spcAft>
                <a:spcPts val="600"/>
              </a:spcAft>
              <a:buNone/>
            </a:pPr>
            <a:r>
              <a:rPr sz="2200" b="0">
                <a:solidFill>
                  <a:srgbClr val="000000"/>
                </a:solidFill>
                <a:latin typeface="Times New Roman"/>
              </a:rPr>
              <a:t>• System Architecture Diagram</a:t>
            </a:r>
          </a:p>
          <a:p>
            <a:pPr algn="l">
              <a:lnSpc>
                <a:spcPct val="100000"/>
              </a:lnSpc>
              <a:spcAft>
                <a:spcPts val="600"/>
              </a:spcAft>
              <a:buNone/>
            </a:pPr>
            <a:r>
              <a:rPr sz="2200" b="0">
                <a:solidFill>
                  <a:srgbClr val="000000"/>
                </a:solidFill>
                <a:latin typeface="Times New Roman"/>
              </a:rPr>
              <a:t>• Data Flow Diagram</a:t>
            </a:r>
          </a:p>
          <a:p>
            <a:pPr algn="l">
              <a:lnSpc>
                <a:spcPct val="100000"/>
              </a:lnSpc>
              <a:spcAft>
                <a:spcPts val="600"/>
              </a:spcAft>
              <a:buNone/>
            </a:pPr>
            <a:r>
              <a:rPr sz="2200" b="0">
                <a:solidFill>
                  <a:srgbClr val="000000"/>
                </a:solidFill>
                <a:latin typeface="Times New Roman"/>
              </a:rPr>
              <a:t>• Demonstration of Project Execution</a:t>
            </a:r>
          </a:p>
          <a:p>
            <a:pPr algn="l">
              <a:lnSpc>
                <a:spcPct val="100000"/>
              </a:lnSpc>
              <a:spcAft>
                <a:spcPts val="600"/>
              </a:spcAft>
              <a:buNone/>
            </a:pPr>
            <a:r>
              <a:rPr sz="2200" b="0">
                <a:solidFill>
                  <a:srgbClr val="000000"/>
                </a:solidFill>
                <a:latin typeface="Times New Roman"/>
              </a:rPr>
              <a:t>• Experimental Setup, Results and Analysis</a:t>
            </a:r>
          </a:p>
          <a:p>
            <a:pPr algn="l">
              <a:lnSpc>
                <a:spcPct val="100000"/>
              </a:lnSpc>
              <a:spcAft>
                <a:spcPts val="600"/>
              </a:spcAft>
              <a:buNone/>
            </a:pPr>
            <a:r>
              <a:rPr sz="2200" b="0">
                <a:solidFill>
                  <a:srgbClr val="000000"/>
                </a:solidFill>
                <a:latin typeface="Times New Roman"/>
              </a:rPr>
              <a:t>• Project Status and Conclusion</a:t>
            </a:r>
          </a:p>
          <a:p>
            <a:pPr algn="l">
              <a:lnSpc>
                <a:spcPct val="100000"/>
              </a:lnSpc>
              <a:spcAft>
                <a:spcPts val="600"/>
              </a:spcAft>
              <a:buNone/>
            </a:pPr>
            <a:r>
              <a:rPr sz="2200" b="0">
                <a:solidFill>
                  <a:srgbClr val="000000"/>
                </a:solidFill>
                <a:latin typeface="Times New Roman"/>
              </a:rPr>
              <a:t>• Publication Status and References</a:t>
            </a:r>
          </a:p>
        </p:txBody>
      </p:sp>
      <p:sp>
        <p:nvSpPr>
          <p:cNvPr id="4" name="Slide Number Placeholder 3">
            <a:extLst>
              <a:ext uri="{FF2B5EF4-FFF2-40B4-BE49-F238E27FC236}">
                <a16:creationId xmlns:a16="http://schemas.microsoft.com/office/drawing/2014/main" id="{3558EB12-1B62-6FEB-4F9A-BB274C4DBCB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2</a:t>
            </a:fld>
            <a:endParaRPr lang="en-IN"/>
          </a:p>
        </p:txBody>
      </p:sp>
      <p:sp>
        <p:nvSpPr>
          <p:cNvPr id="5" name="Footer Placeholder 4">
            <a:extLst>
              <a:ext uri="{FF2B5EF4-FFF2-40B4-BE49-F238E27FC236}">
                <a16:creationId xmlns:a16="http://schemas.microsoft.com/office/drawing/2014/main" id="{2828E2F0-886E-19C2-554E-EBC5C6F24D9C}"/>
              </a:ext>
            </a:extLst>
          </p:cNvPr>
          <p:cNvSpPr>
            <a:spLocks noGrp="1"/>
          </p:cNvSpPr>
          <p:nvPr>
            <p:ph type="ftr" idx="11"/>
          </p:nvPr>
        </p:nvSpPr>
        <p:spPr>
          <a:xfrm>
            <a:off x="457199" y="6492875"/>
            <a:ext cx="8095673" cy="283845"/>
          </a:xfrm>
        </p:spPr>
        <p:txBody>
          <a:bodyPr/>
          <a:lstStyle/>
          <a:p>
            <a:r>
              <a:rPr lang="en-US" smtClean="0"/>
              <a:t>Dept. of CSE,BMSIT&amp;M                       7th Semester, MAJOR PROJECT PHASE-2 (BCS705) REVIEW ‘1                             AY : 2026-27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a64a40ef39_0_6"/>
          <p:cNvSpPr txBox="1">
            <a:spLocks noGrp="1"/>
          </p:cNvSpPr>
          <p:nvPr>
            <p:ph type="title"/>
          </p:nvPr>
        </p:nvSpPr>
        <p:spPr>
          <a:xfrm>
            <a:off x="457200" y="152718"/>
            <a:ext cx="5791200" cy="64281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ABSTRACT</a:t>
            </a:r>
            <a:endParaRPr dirty="0">
              <a:latin typeface="Times New Roman" panose="02020603050405020304" pitchFamily="18" charset="0"/>
              <a:cs typeface="Times New Roman" panose="02020603050405020304" pitchFamily="18" charset="0"/>
            </a:endParaRPr>
          </a:p>
        </p:txBody>
      </p:sp>
      <p:sp>
        <p:nvSpPr>
          <p:cNvPr id="109" name="Google Shape;109;g3a64a40ef39_0_6"/>
          <p:cNvSpPr txBox="1">
            <a:spLocks noGrp="1"/>
          </p:cNvSpPr>
          <p:nvPr>
            <p:ph type="body" idx="1"/>
          </p:nvPr>
        </p:nvSpPr>
        <p:spPr>
          <a:xfrm>
            <a:off x="457200" y="1297590"/>
            <a:ext cx="7620000" cy="5024120"/>
          </a:xfrm>
          <a:prstGeom prst="rect">
            <a:avLst/>
          </a:prstGeom>
        </p:spPr>
        <p:txBody>
          <a:bodyPr spcFirstLastPara="1" wrap="square" lIns="45720" rIns="45720" anchor="t" anchorCtr="0">
            <a:normAutofit fontScale="92500" lnSpcReduction="20000"/>
          </a:bodyPr>
          <a:lstStyle/>
          <a:p>
            <a:pPr marL="457200" lvl="0" indent="-304800" algn="l" rtl="0">
              <a:buNone/>
              <a:lnSpc>
                <a:spcPct val="100000"/>
              </a:lnSpc>
              <a:spcBef>
                <a:spcPts val="0"/>
              </a:spcBef>
              <a:spcAft>
                <a:spcPts val="400"/>
              </a:spcAft>
              <a:buSzPts val="1200"/>
              <a:buFont typeface="Times New Roman"/>
            </a:pPr>
            <a:r>
              <a:rPr sz="1500" b="1">
                <a:solidFill>
                  <a:srgbClr val="000000"/>
                </a:solidFill>
                <a:latin typeface="Times New Roman"/>
              </a:rPr>
              <a:t>Context: </a:t>
            </a:r>
            <a:r>
              <a:rPr sz="1500" b="0">
                <a:solidFill>
                  <a:srgbClr val="000000"/>
                </a:solidFill>
                <a:latin typeface="Times New Roman"/>
              </a:rPr>
              <a:t>AI website builders can create pages quickly, but they may repeat layouts, miss requirements or generate code before the user approves the plan.</a:t>
            </a:r>
            <a:endParaRPr sz="1600" b="0" dirty="0">
              <a:latin typeface="Times New Roman"/>
              <a:ea typeface="Times New Roman"/>
              <a:cs typeface="Times New Roman"/>
              <a:sym typeface="Times New Roman"/>
            </a:endParaRPr>
          </a:p>
          <a:p>
            <a:pPr algn="l">
              <a:lnSpc>
                <a:spcPct val="100000"/>
              </a:lnSpc>
              <a:spcAft>
                <a:spcPts val="400"/>
              </a:spcAft>
              <a:buNone/>
            </a:pPr>
            <a:r>
              <a:rPr sz="1500" b="1">
                <a:solidFill>
                  <a:srgbClr val="000000"/>
                </a:solidFill>
                <a:latin typeface="Times New Roman"/>
              </a:rPr>
              <a:t>Problem: </a:t>
            </a:r>
            <a:r>
              <a:rPr sz="1500" b="0">
                <a:solidFill>
                  <a:srgbClr val="000000"/>
                </a:solidFill>
                <a:latin typeface="Times New Roman"/>
              </a:rPr>
              <a:t>A polished screen is not enough when buttons, backend routes, files or security rules are incomplete.</a:t>
            </a:r>
          </a:p>
          <a:p>
            <a:pPr algn="l">
              <a:lnSpc>
                <a:spcPct val="100000"/>
              </a:lnSpc>
              <a:spcAft>
                <a:spcPts val="400"/>
              </a:spcAft>
              <a:buNone/>
            </a:pPr>
            <a:r>
              <a:rPr sz="1500" b="1">
                <a:solidFill>
                  <a:srgbClr val="000000"/>
                </a:solidFill>
                <a:latin typeface="Times New Roman"/>
              </a:rPr>
              <a:t>Objective: </a:t>
            </a:r>
            <a:r>
              <a:rPr sz="1500" b="0">
                <a:solidFill>
                  <a:srgbClr val="000000"/>
                </a:solidFill>
                <a:latin typeface="Times New Roman"/>
              </a:rPr>
              <a:t>ForgeWeb turns a product idea into a reviewed full-stack project. It creates requirements and an architecture file, asks for confirmation, and then generates the frontend and backend.</a:t>
            </a:r>
          </a:p>
          <a:p>
            <a:pPr algn="l">
              <a:lnSpc>
                <a:spcPct val="100000"/>
              </a:lnSpc>
              <a:spcAft>
                <a:spcPts val="400"/>
              </a:spcAft>
              <a:buNone/>
            </a:pPr>
            <a:r>
              <a:rPr sz="1500" b="1">
                <a:solidFill>
                  <a:srgbClr val="000000"/>
                </a:solidFill>
                <a:latin typeface="Times New Roman"/>
              </a:rPr>
              <a:t>Method: </a:t>
            </a:r>
            <a:r>
              <a:rPr sz="1500" b="0">
                <a:solidFill>
                  <a:srgbClr val="000000"/>
                </a:solidFill>
                <a:latin typeface="Times New Roman"/>
              </a:rPr>
              <a:t>The platform uses React and TypeScript, Gemini for planning and frontend generation, and Groq with OpenRouter fallback for backend generation. It also maintains versions, validation checks and requirement-to-file traceability.</a:t>
            </a:r>
          </a:p>
          <a:p>
            <a:pPr algn="l">
              <a:lnSpc>
                <a:spcPct val="100000"/>
              </a:lnSpc>
              <a:spcAft>
                <a:spcPts val="400"/>
              </a:spcAft>
              <a:buNone/>
            </a:pPr>
            <a:r>
              <a:rPr sz="1500" b="1">
                <a:solidFill>
                  <a:srgbClr val="000000"/>
                </a:solidFill>
                <a:latin typeface="Times New Roman"/>
              </a:rPr>
              <a:t>Result: </a:t>
            </a:r>
            <a:r>
              <a:rPr sz="1500" b="0">
                <a:solidFill>
                  <a:srgbClr val="000000"/>
                </a:solidFill>
                <a:latin typeface="Times New Roman"/>
              </a:rPr>
              <a:t>The prototype creates visibly different interfaces for portals, stores, restaurants, inventory tools, schedulers and general websites. Files are inspectable, previews are responsive and project versions can be restored or deleted.</a:t>
            </a:r>
          </a:p>
          <a:p>
            <a:pPr algn="l">
              <a:lnSpc>
                <a:spcPct val="100000"/>
              </a:lnSpc>
              <a:spcAft>
                <a:spcPts val="400"/>
              </a:spcAft>
              <a:buNone/>
            </a:pPr>
            <a:r>
              <a:rPr sz="1500" b="1">
                <a:solidFill>
                  <a:srgbClr val="000000"/>
                </a:solidFill>
                <a:latin typeface="Times New Roman"/>
              </a:rPr>
              <a:t>Keywords: </a:t>
            </a:r>
            <a:r>
              <a:rPr sz="1500" b="0">
                <a:solidFill>
                  <a:srgbClr val="000000"/>
                </a:solidFill>
                <a:latin typeface="Times New Roman"/>
              </a:rPr>
              <a:t>Full-stack generation, architecture-first workflow, React, TypeScript, FastAPI, LLM routing, code traceability, responsive UI.</a:t>
            </a:r>
          </a:p>
        </p:txBody>
      </p:sp>
      <p:sp>
        <p:nvSpPr>
          <p:cNvPr id="6" name="Footer Placeholder 5">
            <a:extLst>
              <a:ext uri="{FF2B5EF4-FFF2-40B4-BE49-F238E27FC236}">
                <a16:creationId xmlns:a16="http://schemas.microsoft.com/office/drawing/2014/main" id="{F7DC5DB4-DE2F-7C54-72E8-D875E945EEC0}"/>
              </a:ext>
            </a:extLst>
          </p:cNvPr>
          <p:cNvSpPr>
            <a:spLocks noGrp="1"/>
          </p:cNvSpPr>
          <p:nvPr>
            <p:ph type="ftr" idx="11"/>
          </p:nvPr>
        </p:nvSpPr>
        <p:spPr>
          <a:xfrm>
            <a:off x="252983" y="6421437"/>
            <a:ext cx="8318361" cy="283845"/>
          </a:xfrm>
        </p:spPr>
        <p:txBody>
          <a:bodyPr/>
          <a:lstStyle/>
          <a:p>
            <a:r>
              <a:rPr lang="en-US" smtClean="0"/>
              <a:t>Dept. of CSE,BMSIT&amp;M                       7th Semester, MAJOR PROJECT PHASE-2 (BCS705) REVIEW ‘1                             AY : 2026-27 </a:t>
            </a:r>
            <a:endParaRPr lang="en-IN" dirty="0"/>
          </a:p>
        </p:txBody>
      </p:sp>
      <p:sp>
        <p:nvSpPr>
          <p:cNvPr id="7" name="Slide Number Placeholder 6">
            <a:extLst>
              <a:ext uri="{FF2B5EF4-FFF2-40B4-BE49-F238E27FC236}">
                <a16:creationId xmlns:a16="http://schemas.microsoft.com/office/drawing/2014/main" id="{374015D3-FC46-4C05-CA6C-5B379E1A48D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a64a40ef39_0_12"/>
          <p:cNvSpPr txBox="1">
            <a:spLocks noGrp="1"/>
          </p:cNvSpPr>
          <p:nvPr>
            <p:ph type="title"/>
          </p:nvPr>
        </p:nvSpPr>
        <p:spPr>
          <a:xfrm>
            <a:off x="1783080" y="291423"/>
            <a:ext cx="5791200" cy="880554"/>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116" name="Google Shape;116;g3a64a40ef39_0_12"/>
          <p:cNvSpPr txBox="1">
            <a:spLocks noGrp="1"/>
          </p:cNvSpPr>
          <p:nvPr>
            <p:ph type="body" idx="1"/>
          </p:nvPr>
        </p:nvSpPr>
        <p:spPr>
          <a:xfrm>
            <a:off x="457200" y="1752600"/>
            <a:ext cx="7620000" cy="4373700"/>
          </a:xfrm>
          <a:prstGeom prst="rect">
            <a:avLst/>
          </a:prstGeom>
        </p:spPr>
        <p:txBody>
          <a:bodyPr spcFirstLastPara="1" wrap="square" lIns="73152" tIns="73152" rIns="73152" bIns="73152" anchor="t" anchorCtr="0">
            <a:normAutofit/>
          </a:bodyPr>
          <a:lstStyle/>
          <a:p>
            <a:pPr marL="457200" lvl="0" indent="-361950" algn="l" rtl="0">
              <a:buNone/>
              <a:lnSpc>
                <a:spcPct val="100000"/>
              </a:lnSpc>
              <a:spcBef>
                <a:spcPts val="0"/>
              </a:spcBef>
              <a:spcAft>
                <a:spcPts val="600"/>
              </a:spcAft>
              <a:buSzPts val="2100"/>
              <a:buFont typeface="Roboto"/>
            </a:pPr>
            <a:r>
              <a:rPr sz="2000" b="0">
                <a:solidFill>
                  <a:srgbClr val="000000"/>
                </a:solidFill>
                <a:latin typeface="Times New Roman"/>
              </a:rPr>
              <a:t>• AI can generate code quickly, but fast output is not always complete or dependable.</a:t>
            </a:r>
            <a:endParaRPr sz="2100" b="0" dirty="0">
              <a:latin typeface="Times New Roman" panose="02020603050405020304" pitchFamily="18" charset="0"/>
              <a:ea typeface="Roboto"/>
              <a:cs typeface="Times New Roman" panose="02020603050405020304" pitchFamily="18" charset="0"/>
              <a:sym typeface="Roboto"/>
            </a:endParaRPr>
          </a:p>
          <a:p>
            <a:pPr algn="l">
              <a:lnSpc>
                <a:spcPct val="100000"/>
              </a:lnSpc>
              <a:spcAft>
                <a:spcPts val="600"/>
              </a:spcAft>
              <a:buNone/>
            </a:pPr>
            <a:r>
              <a:rPr sz="2000" b="0">
                <a:solidFill>
                  <a:srgbClr val="000000"/>
                </a:solidFill>
                <a:latin typeface="Times New Roman"/>
              </a:rPr>
              <a:t>• ForgeWeb converts a plain-language idea into requirements, architecture, code, tests and a live preview.</a:t>
            </a:r>
          </a:p>
          <a:p>
            <a:pPr algn="l">
              <a:lnSpc>
                <a:spcPct val="100000"/>
              </a:lnSpc>
              <a:spcAft>
                <a:spcPts val="600"/>
              </a:spcAft>
              <a:buNone/>
            </a:pPr>
            <a:r>
              <a:rPr sz="2000" b="0">
                <a:solidFill>
                  <a:srgbClr val="000000"/>
                </a:solidFill>
                <a:latin typeface="Times New Roman"/>
              </a:rPr>
              <a:t>• The user stays in control through a mandatory architecture approval step.</a:t>
            </a:r>
          </a:p>
          <a:p>
            <a:pPr algn="l">
              <a:lnSpc>
                <a:spcPct val="100000"/>
              </a:lnSpc>
              <a:spcAft>
                <a:spcPts val="600"/>
              </a:spcAft>
              <a:buNone/>
            </a:pPr>
            <a:r>
              <a:rPr sz="2000" b="0">
                <a:solidFill>
                  <a:srgbClr val="000000"/>
                </a:solidFill>
                <a:latin typeface="Times New Roman"/>
              </a:rPr>
              <a:t>• The platform is designed for students, founders and developers who need a working starting point, not only a mock-up.</a:t>
            </a:r>
          </a:p>
          <a:p>
            <a:pPr algn="l">
              <a:lnSpc>
                <a:spcPct val="100000"/>
              </a:lnSpc>
              <a:spcAft>
                <a:spcPts val="600"/>
              </a:spcAft>
              <a:buNone/>
            </a:pPr>
            <a:r>
              <a:rPr sz="2000" b="0">
                <a:solidFill>
                  <a:srgbClr val="000000"/>
                </a:solidFill>
                <a:latin typeface="Times New Roman"/>
              </a:rPr>
              <a:t>• Its main difference is prompt-specific generation: a restaurant, store or client portal receives its own structure and visual style.</a:t>
            </a:r>
          </a:p>
        </p:txBody>
      </p:sp>
      <p:sp>
        <p:nvSpPr>
          <p:cNvPr id="4" name="Slide Number Placeholder 3">
            <a:extLst>
              <a:ext uri="{FF2B5EF4-FFF2-40B4-BE49-F238E27FC236}">
                <a16:creationId xmlns:a16="http://schemas.microsoft.com/office/drawing/2014/main" id="{0A61D392-EBCD-1E72-4571-835535255CA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4</a:t>
            </a:fld>
            <a:endParaRPr lang="en-IN"/>
          </a:p>
        </p:txBody>
      </p:sp>
      <p:sp>
        <p:nvSpPr>
          <p:cNvPr id="5" name="Footer Placeholder 4">
            <a:extLst>
              <a:ext uri="{FF2B5EF4-FFF2-40B4-BE49-F238E27FC236}">
                <a16:creationId xmlns:a16="http://schemas.microsoft.com/office/drawing/2014/main" id="{5D6C057E-C4CC-4DA0-3F99-BA2B87E1A63A}"/>
              </a:ext>
            </a:extLst>
          </p:cNvPr>
          <p:cNvSpPr>
            <a:spLocks noGrp="1"/>
          </p:cNvSpPr>
          <p:nvPr>
            <p:ph type="ftr" idx="11"/>
          </p:nvPr>
        </p:nvSpPr>
        <p:spPr>
          <a:xfrm>
            <a:off x="457200" y="6492875"/>
            <a:ext cx="8156448" cy="283845"/>
          </a:xfrm>
        </p:spPr>
        <p:txBody>
          <a:bodyPr/>
          <a:lstStyle/>
          <a:p>
            <a:r>
              <a:rPr lang="en-US" smtClean="0"/>
              <a:t>Dept. of CSE,BMSIT&amp;M                       7th Semester, MAJOR PROJECT PHASE-2 (BCS705) REVIEW ‘1                             AY : 2026-27 </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a64a40ef39_0_18"/>
          <p:cNvSpPr txBox="1">
            <a:spLocks noGrp="1"/>
          </p:cNvSpPr>
          <p:nvPr>
            <p:ph type="title"/>
          </p:nvPr>
        </p:nvSpPr>
        <p:spPr>
          <a:xfrm>
            <a:off x="674600" y="312550"/>
            <a:ext cx="7230300" cy="976754"/>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PROBLEM STATEMENT</a:t>
            </a:r>
            <a:endParaRPr dirty="0">
              <a:latin typeface="Times New Roman" panose="02020603050405020304" pitchFamily="18" charset="0"/>
              <a:cs typeface="Times New Roman" panose="02020603050405020304" pitchFamily="18" charset="0"/>
            </a:endParaRPr>
          </a:p>
        </p:txBody>
      </p:sp>
      <p:sp>
        <p:nvSpPr>
          <p:cNvPr id="123" name="Google Shape;123;g3a64a40ef39_0_18"/>
          <p:cNvSpPr txBox="1">
            <a:spLocks noGrp="1"/>
          </p:cNvSpPr>
          <p:nvPr>
            <p:ph type="body" idx="1"/>
          </p:nvPr>
        </p:nvSpPr>
        <p:spPr>
          <a:xfrm>
            <a:off x="457200" y="1752600"/>
            <a:ext cx="7620000" cy="4373700"/>
          </a:xfrm>
          <a:prstGeom prst="rect">
            <a:avLst/>
          </a:prstGeom>
        </p:spPr>
        <p:txBody>
          <a:bodyPr spcFirstLastPara="1" wrap="square" lIns="54864" tIns="54864" rIns="54864" bIns="54864" anchor="t" anchorCtr="0">
            <a:normAutofit/>
          </a:bodyPr>
          <a:lstStyle/>
          <a:p>
            <a:pPr marL="457200" lvl="0" indent="-368300" algn="just" rtl="0">
              <a:buNone/>
              <a:lnSpc>
                <a:spcPct val="100000"/>
              </a:lnSpc>
              <a:spcBef>
                <a:spcPts val="0"/>
              </a:spcBef>
              <a:spcAft>
                <a:spcPts val="1400"/>
              </a:spcAft>
              <a:buSzPts val="2200"/>
              <a:buFont typeface="Roboto"/>
            </a:pPr>
            <a:r>
              <a:rPr sz="1900" b="0">
                <a:solidFill>
                  <a:srgbClr val="000000"/>
                </a:solidFill>
                <a:latin typeface="Times New Roman"/>
              </a:rPr>
              <a:t>People can describe a software idea in simple words, but converting that idea into a complete full-stack application is still difficult. Many AI development tools move directly from the prompt to code without first confirming the real requirements. They may reuse the same design, create disconnected frontend and backend files, or leave important buttons and workflows incomplete. The result can look ready during a demonstration even though the application does not fully match the user’s need.</a:t>
            </a:r>
            <a:endParaRPr sz="2200" b="0" dirty="0">
              <a:latin typeface="Times New Roman" panose="02020603050405020304" pitchFamily="18" charset="0"/>
              <a:ea typeface="Roboto"/>
              <a:cs typeface="Times New Roman" panose="02020603050405020304" pitchFamily="18" charset="0"/>
              <a:sym typeface="Roboto"/>
            </a:endParaRPr>
          </a:p>
          <a:p>
            <a:pPr algn="just">
              <a:lnSpc>
                <a:spcPct val="100000"/>
              </a:lnSpc>
              <a:spcAft>
                <a:spcPts val="1400"/>
              </a:spcAft>
              <a:buNone/>
            </a:pPr>
            <a:r>
              <a:rPr sz="1900" b="0">
                <a:solidFill>
                  <a:srgbClr val="000000"/>
                </a:solidFill>
                <a:latin typeface="Times New Roman"/>
              </a:rPr>
              <a:t>The main problem is the absence of a guided and trustworthy generation process. A user needs a system that understands the product, prepares a clear architecture for review, generates a prompt-specific frontend and backend only after approval, and then checks whether the complete application works as one connected system. The user should also be able to inspect every file, view the application, track versions and continue the work safely when an AI provider is unavailable.</a:t>
            </a:r>
          </a:p>
        </p:txBody>
      </p:sp>
      <p:sp>
        <p:nvSpPr>
          <p:cNvPr id="5" name="Footer Placeholder 4">
            <a:extLst>
              <a:ext uri="{FF2B5EF4-FFF2-40B4-BE49-F238E27FC236}">
                <a16:creationId xmlns:a16="http://schemas.microsoft.com/office/drawing/2014/main" id="{5339181E-A078-B3C5-963B-BBBFBF2AA13C}"/>
              </a:ext>
            </a:extLst>
          </p:cNvPr>
          <p:cNvSpPr>
            <a:spLocks noGrp="1"/>
          </p:cNvSpPr>
          <p:nvPr>
            <p:ph type="ftr" idx="11"/>
          </p:nvPr>
        </p:nvSpPr>
        <p:spPr>
          <a:xfrm>
            <a:off x="457200" y="6492875"/>
            <a:ext cx="8055864" cy="283845"/>
          </a:xfrm>
        </p:spPr>
        <p:txBody>
          <a:bodyPr/>
          <a:lstStyle/>
          <a:p>
            <a:r>
              <a:rPr lang="en-US" smtClean="0"/>
              <a:t>Dept. of CSE,BMSIT&amp;M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A821517E-A088-090E-873E-91A0D55F2E0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a64a40ef39_2_2"/>
          <p:cNvSpPr txBox="1">
            <a:spLocks noGrp="1"/>
          </p:cNvSpPr>
          <p:nvPr>
            <p:ph type="title"/>
          </p:nvPr>
        </p:nvSpPr>
        <p:spPr>
          <a:xfrm>
            <a:off x="457200" y="152725"/>
            <a:ext cx="8194200" cy="1371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OBJECTIVES OF THE WORK</a:t>
            </a:r>
            <a:endParaRPr dirty="0">
              <a:latin typeface="Times New Roman" panose="02020603050405020304" pitchFamily="18" charset="0"/>
              <a:cs typeface="Times New Roman" panose="02020603050405020304" pitchFamily="18" charset="0"/>
            </a:endParaRPr>
          </a:p>
        </p:txBody>
      </p:sp>
      <p:sp>
        <p:nvSpPr>
          <p:cNvPr id="130" name="Google Shape;130;g3a64a40ef39_2_2"/>
          <p:cNvSpPr txBox="1">
            <a:spLocks noGrp="1"/>
          </p:cNvSpPr>
          <p:nvPr>
            <p:ph type="body" idx="1"/>
          </p:nvPr>
        </p:nvSpPr>
        <p:spPr>
          <a:xfrm>
            <a:off x="457200" y="1752600"/>
            <a:ext cx="7620000" cy="4373700"/>
          </a:xfrm>
          <a:prstGeom prst="rect">
            <a:avLst/>
          </a:prstGeom>
        </p:spPr>
        <p:txBody>
          <a:bodyPr spcFirstLastPara="1" wrap="square" lIns="0" tIns="0" rIns="0" bIns="0" anchor="t" anchorCtr="0">
            <a:normAutofit/>
          </a:bodyPr>
          <a:lstStyle/>
          <a:p>
            <a:pPr marL="457200" lvl="0" indent="-361950" algn="l" rtl="0">
              <a:lnSpc>
                <a:spcPct val="115000"/>
              </a:lnSpc>
              <a:spcBef>
                <a:spcPts val="0"/>
              </a:spcBef>
              <a:spcAft>
                <a:spcPts val="0"/>
              </a:spcAft>
              <a:buSzPts val="2100"/>
              <a:buFont typeface="Roboto"/>
              <a:buChar char="●"/>
            </a:pPr>
            <a:endParaRPr sz="2100" b="0" dirty="0">
              <a:latin typeface="Times New Roman" panose="02020603050405020304" pitchFamily="18" charset="0"/>
              <a:ea typeface="Roboto"/>
              <a:cs typeface="Times New Roman" panose="02020603050405020304" pitchFamily="18" charset="0"/>
              <a:sym typeface="Roboto"/>
            </a:endParaRPr>
          </a:p>
        </p:txBody>
      </p:sp>
      <p:sp>
        <p:nvSpPr>
          <p:cNvPr id="4" name="Slide Number Placeholder 3">
            <a:extLst>
              <a:ext uri="{FF2B5EF4-FFF2-40B4-BE49-F238E27FC236}">
                <a16:creationId xmlns:a16="http://schemas.microsoft.com/office/drawing/2014/main" id="{0B3EB978-79E7-EC0D-D7F2-93B6BFFA3179}"/>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6</a:t>
            </a:fld>
            <a:endParaRPr lang="en-IN"/>
          </a:p>
        </p:txBody>
      </p:sp>
      <p:sp>
        <p:nvSpPr>
          <p:cNvPr id="5" name="Footer Placeholder 4">
            <a:extLst>
              <a:ext uri="{FF2B5EF4-FFF2-40B4-BE49-F238E27FC236}">
                <a16:creationId xmlns:a16="http://schemas.microsoft.com/office/drawing/2014/main" id="{E5D0EE17-2BAE-351A-5ED4-1C8461DF9FF7}"/>
              </a:ext>
            </a:extLst>
          </p:cNvPr>
          <p:cNvSpPr>
            <a:spLocks noGrp="1"/>
          </p:cNvSpPr>
          <p:nvPr>
            <p:ph type="ftr" idx="11"/>
          </p:nvPr>
        </p:nvSpPr>
        <p:spPr>
          <a:xfrm>
            <a:off x="457200" y="6492875"/>
            <a:ext cx="8092440" cy="283845"/>
          </a:xfrm>
        </p:spPr>
        <p:txBody>
          <a:bodyPr/>
          <a:lstStyle/>
          <a:p>
            <a:r>
              <a:rPr lang="en-US" smtClean="0"/>
              <a:t>Dept. of CSE,BMSIT&amp;M                       7th Semester, MAJOR PROJECT PHASE-2 (BCS705) REVIEW ‘1                             AY : 2026-27 </a:t>
            </a:r>
            <a:endParaRPr lang="en-IN" dirty="0"/>
          </a:p>
        </p:txBody>
      </p:sp>
      <p:sp>
        <p:nvSpPr>
          <p:cNvPr id="131" name="Rounded Rectangle 130"/>
          <p:cNvSpPr/>
          <p:nvPr/>
        </p:nvSpPr>
        <p:spPr>
          <a:xfrm>
            <a:off x="502920" y="1463040"/>
            <a:ext cx="3931920" cy="914400"/>
          </a:xfrm>
          <a:prstGeom prst="roundRect">
            <a:avLst/>
          </a:prstGeom>
          <a:solidFill>
            <a:srgbClr val="FFFFFF"/>
          </a:solidFill>
          <a:ln w="1079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630936" y="1627632"/>
            <a:ext cx="438912" cy="283464"/>
          </a:xfrm>
          <a:prstGeom prst="roundRect">
            <a:avLst/>
          </a:prstGeom>
          <a:solidFill>
            <a:srgbClr val="FCEEE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050" b="1">
                <a:solidFill>
                  <a:srgbClr val="D6262B"/>
                </a:solidFill>
                <a:latin typeface="Times New Roman"/>
              </a:rPr>
              <a:t>01</a:t>
            </a:r>
          </a:p>
        </p:txBody>
      </p:sp>
      <p:sp>
        <p:nvSpPr>
          <p:cNvPr id="133" name="TextBox 132"/>
          <p:cNvSpPr txBox="1"/>
          <p:nvPr/>
        </p:nvSpPr>
        <p:spPr>
          <a:xfrm>
            <a:off x="1188720" y="1572768"/>
            <a:ext cx="3099815" cy="274320"/>
          </a:xfrm>
          <a:prstGeom prst="rect">
            <a:avLst/>
          </a:prstGeom>
          <a:noFill/>
        </p:spPr>
        <p:txBody>
          <a:bodyPr wrap="square" lIns="0" rIns="0" tIns="0" bIns="0" anchor="t">
            <a:spAutoFit/>
          </a:bodyPr>
          <a:lstStyle/>
          <a:p>
            <a:pPr>
              <a:buNone/>
            </a:pPr>
            <a:r>
              <a:rPr sz="1400" b="1">
                <a:solidFill>
                  <a:srgbClr val="000000"/>
                </a:solidFill>
                <a:latin typeface="Times New Roman"/>
              </a:rPr>
              <a:t>Architecture First</a:t>
            </a:r>
          </a:p>
        </p:txBody>
      </p:sp>
      <p:sp>
        <p:nvSpPr>
          <p:cNvPr id="134" name="TextBox 133"/>
          <p:cNvSpPr txBox="1"/>
          <p:nvPr/>
        </p:nvSpPr>
        <p:spPr>
          <a:xfrm>
            <a:off x="1188720" y="1892808"/>
            <a:ext cx="3099815" cy="411479"/>
          </a:xfrm>
          <a:prstGeom prst="rect">
            <a:avLst/>
          </a:prstGeom>
          <a:noFill/>
        </p:spPr>
        <p:txBody>
          <a:bodyPr wrap="square" lIns="0" rIns="0" tIns="0" bIns="0" anchor="t">
            <a:spAutoFit/>
          </a:bodyPr>
          <a:lstStyle/>
          <a:p>
            <a:pPr>
              <a:lnSpc>
                <a:spcPct val="100000"/>
              </a:lnSpc>
              <a:buNone/>
            </a:pPr>
            <a:r>
              <a:rPr sz="1150">
                <a:solidFill>
                  <a:srgbClr val="444444"/>
                </a:solidFill>
                <a:latin typeface="Times New Roman"/>
              </a:rPr>
              <a:t>Create ARCHITECTURE.md before code generation.</a:t>
            </a:r>
          </a:p>
        </p:txBody>
      </p:sp>
      <p:sp>
        <p:nvSpPr>
          <p:cNvPr id="135" name="Rounded Rectangle 134"/>
          <p:cNvSpPr/>
          <p:nvPr/>
        </p:nvSpPr>
        <p:spPr>
          <a:xfrm>
            <a:off x="4709160" y="1463040"/>
            <a:ext cx="3931920" cy="914400"/>
          </a:xfrm>
          <a:prstGeom prst="roundRect">
            <a:avLst/>
          </a:prstGeom>
          <a:solidFill>
            <a:srgbClr val="FFFFFF"/>
          </a:solidFill>
          <a:ln w="1079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4837176" y="1627632"/>
            <a:ext cx="438912" cy="283464"/>
          </a:xfrm>
          <a:prstGeom prst="roundRect">
            <a:avLst/>
          </a:prstGeom>
          <a:solidFill>
            <a:srgbClr val="FCEEE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050" b="1">
                <a:solidFill>
                  <a:srgbClr val="D6262B"/>
                </a:solidFill>
                <a:latin typeface="Times New Roman"/>
              </a:rPr>
              <a:t>02</a:t>
            </a:r>
          </a:p>
        </p:txBody>
      </p:sp>
      <p:sp>
        <p:nvSpPr>
          <p:cNvPr id="137" name="TextBox 136"/>
          <p:cNvSpPr txBox="1"/>
          <p:nvPr/>
        </p:nvSpPr>
        <p:spPr>
          <a:xfrm>
            <a:off x="5394960" y="1572768"/>
            <a:ext cx="3099815" cy="274320"/>
          </a:xfrm>
          <a:prstGeom prst="rect">
            <a:avLst/>
          </a:prstGeom>
          <a:noFill/>
        </p:spPr>
        <p:txBody>
          <a:bodyPr wrap="square" lIns="0" rIns="0" tIns="0" bIns="0" anchor="t">
            <a:spAutoFit/>
          </a:bodyPr>
          <a:lstStyle/>
          <a:p>
            <a:pPr>
              <a:buNone/>
            </a:pPr>
            <a:r>
              <a:rPr sz="1400" b="1">
                <a:solidFill>
                  <a:srgbClr val="000000"/>
                </a:solidFill>
                <a:latin typeface="Times New Roman"/>
              </a:rPr>
              <a:t>Approval Gate</a:t>
            </a:r>
          </a:p>
        </p:txBody>
      </p:sp>
      <p:sp>
        <p:nvSpPr>
          <p:cNvPr id="138" name="TextBox 137"/>
          <p:cNvSpPr txBox="1"/>
          <p:nvPr/>
        </p:nvSpPr>
        <p:spPr>
          <a:xfrm>
            <a:off x="5394960" y="1892808"/>
            <a:ext cx="3099815" cy="411479"/>
          </a:xfrm>
          <a:prstGeom prst="rect">
            <a:avLst/>
          </a:prstGeom>
          <a:noFill/>
        </p:spPr>
        <p:txBody>
          <a:bodyPr wrap="square" lIns="0" rIns="0" tIns="0" bIns="0" anchor="t">
            <a:spAutoFit/>
          </a:bodyPr>
          <a:lstStyle/>
          <a:p>
            <a:pPr>
              <a:lnSpc>
                <a:spcPct val="100000"/>
              </a:lnSpc>
              <a:buNone/>
            </a:pPr>
            <a:r>
              <a:rPr sz="1150">
                <a:solidFill>
                  <a:srgbClr val="444444"/>
                </a:solidFill>
                <a:latin typeface="Times New Roman"/>
              </a:rPr>
              <a:t>Generate source only after the user confirms the plan.</a:t>
            </a:r>
          </a:p>
        </p:txBody>
      </p:sp>
      <p:sp>
        <p:nvSpPr>
          <p:cNvPr id="139" name="Rounded Rectangle 138"/>
          <p:cNvSpPr/>
          <p:nvPr/>
        </p:nvSpPr>
        <p:spPr>
          <a:xfrm>
            <a:off x="502920" y="2505456"/>
            <a:ext cx="3931920" cy="914400"/>
          </a:xfrm>
          <a:prstGeom prst="roundRect">
            <a:avLst/>
          </a:prstGeom>
          <a:solidFill>
            <a:srgbClr val="FFFFFF"/>
          </a:solidFill>
          <a:ln w="1079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630936" y="2670048"/>
            <a:ext cx="438912" cy="283464"/>
          </a:xfrm>
          <a:prstGeom prst="roundRect">
            <a:avLst/>
          </a:prstGeom>
          <a:solidFill>
            <a:srgbClr val="FCEEE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050" b="1">
                <a:solidFill>
                  <a:srgbClr val="D6262B"/>
                </a:solidFill>
                <a:latin typeface="Times New Roman"/>
              </a:rPr>
              <a:t>03</a:t>
            </a:r>
          </a:p>
        </p:txBody>
      </p:sp>
      <p:sp>
        <p:nvSpPr>
          <p:cNvPr id="141" name="TextBox 140"/>
          <p:cNvSpPr txBox="1"/>
          <p:nvPr/>
        </p:nvSpPr>
        <p:spPr>
          <a:xfrm>
            <a:off x="1188720" y="2615184"/>
            <a:ext cx="3099815" cy="274320"/>
          </a:xfrm>
          <a:prstGeom prst="rect">
            <a:avLst/>
          </a:prstGeom>
          <a:noFill/>
        </p:spPr>
        <p:txBody>
          <a:bodyPr wrap="square" lIns="0" rIns="0" tIns="0" bIns="0" anchor="t">
            <a:spAutoFit/>
          </a:bodyPr>
          <a:lstStyle/>
          <a:p>
            <a:pPr>
              <a:buNone/>
            </a:pPr>
            <a:r>
              <a:rPr sz="1400" b="1">
                <a:solidFill>
                  <a:srgbClr val="000000"/>
                </a:solidFill>
                <a:latin typeface="Times New Roman"/>
              </a:rPr>
              <a:t>Full-Stack Output</a:t>
            </a:r>
          </a:p>
        </p:txBody>
      </p:sp>
      <p:sp>
        <p:nvSpPr>
          <p:cNvPr id="142" name="TextBox 141"/>
          <p:cNvSpPr txBox="1"/>
          <p:nvPr/>
        </p:nvSpPr>
        <p:spPr>
          <a:xfrm>
            <a:off x="1188720" y="2935224"/>
            <a:ext cx="3099815" cy="411479"/>
          </a:xfrm>
          <a:prstGeom prst="rect">
            <a:avLst/>
          </a:prstGeom>
          <a:noFill/>
        </p:spPr>
        <p:txBody>
          <a:bodyPr wrap="square" lIns="0" rIns="0" tIns="0" bIns="0" anchor="t">
            <a:spAutoFit/>
          </a:bodyPr>
          <a:lstStyle/>
          <a:p>
            <a:pPr>
              <a:lnSpc>
                <a:spcPct val="100000"/>
              </a:lnSpc>
              <a:buNone/>
            </a:pPr>
            <a:r>
              <a:rPr sz="1150">
                <a:solidFill>
                  <a:srgbClr val="444444"/>
                </a:solidFill>
                <a:latin typeface="Times New Roman"/>
              </a:rPr>
              <a:t>Build a responsive frontend and contract-matched Python backend.</a:t>
            </a:r>
          </a:p>
        </p:txBody>
      </p:sp>
      <p:sp>
        <p:nvSpPr>
          <p:cNvPr id="143" name="Rounded Rectangle 142"/>
          <p:cNvSpPr/>
          <p:nvPr/>
        </p:nvSpPr>
        <p:spPr>
          <a:xfrm>
            <a:off x="4709160" y="2505456"/>
            <a:ext cx="3931920" cy="914400"/>
          </a:xfrm>
          <a:prstGeom prst="roundRect">
            <a:avLst/>
          </a:prstGeom>
          <a:solidFill>
            <a:srgbClr val="FFFFFF"/>
          </a:solidFill>
          <a:ln w="1079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4837176" y="2670048"/>
            <a:ext cx="438912" cy="283464"/>
          </a:xfrm>
          <a:prstGeom prst="roundRect">
            <a:avLst/>
          </a:prstGeom>
          <a:solidFill>
            <a:srgbClr val="FCEEE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050" b="1">
                <a:solidFill>
                  <a:srgbClr val="D6262B"/>
                </a:solidFill>
                <a:latin typeface="Times New Roman"/>
              </a:rPr>
              <a:t>04</a:t>
            </a:r>
          </a:p>
        </p:txBody>
      </p:sp>
      <p:sp>
        <p:nvSpPr>
          <p:cNvPr id="145" name="TextBox 144"/>
          <p:cNvSpPr txBox="1"/>
          <p:nvPr/>
        </p:nvSpPr>
        <p:spPr>
          <a:xfrm>
            <a:off x="5394960" y="2615184"/>
            <a:ext cx="3099815" cy="274320"/>
          </a:xfrm>
          <a:prstGeom prst="rect">
            <a:avLst/>
          </a:prstGeom>
          <a:noFill/>
        </p:spPr>
        <p:txBody>
          <a:bodyPr wrap="square" lIns="0" rIns="0" tIns="0" bIns="0" anchor="t">
            <a:spAutoFit/>
          </a:bodyPr>
          <a:lstStyle/>
          <a:p>
            <a:pPr>
              <a:buNone/>
            </a:pPr>
            <a:r>
              <a:rPr sz="1400" b="1">
                <a:solidFill>
                  <a:srgbClr val="000000"/>
                </a:solidFill>
                <a:latin typeface="Times New Roman"/>
              </a:rPr>
              <a:t>Prompt-Led Design</a:t>
            </a:r>
          </a:p>
        </p:txBody>
      </p:sp>
      <p:sp>
        <p:nvSpPr>
          <p:cNvPr id="146" name="TextBox 145"/>
          <p:cNvSpPr txBox="1"/>
          <p:nvPr/>
        </p:nvSpPr>
        <p:spPr>
          <a:xfrm>
            <a:off x="5394960" y="2935224"/>
            <a:ext cx="3099815" cy="411479"/>
          </a:xfrm>
          <a:prstGeom prst="rect">
            <a:avLst/>
          </a:prstGeom>
          <a:noFill/>
        </p:spPr>
        <p:txBody>
          <a:bodyPr wrap="square" lIns="0" rIns="0" tIns="0" bIns="0" anchor="t">
            <a:spAutoFit/>
          </a:bodyPr>
          <a:lstStyle/>
          <a:p>
            <a:pPr>
              <a:lnSpc>
                <a:spcPct val="100000"/>
              </a:lnSpc>
              <a:buNone/>
            </a:pPr>
            <a:r>
              <a:rPr sz="1150">
                <a:solidFill>
                  <a:srgbClr val="444444"/>
                </a:solidFill>
                <a:latin typeface="Times New Roman"/>
              </a:rPr>
              <a:t>Respect the product name, colors, content, domain and layout.</a:t>
            </a:r>
          </a:p>
        </p:txBody>
      </p:sp>
      <p:sp>
        <p:nvSpPr>
          <p:cNvPr id="147" name="Rounded Rectangle 146"/>
          <p:cNvSpPr/>
          <p:nvPr/>
        </p:nvSpPr>
        <p:spPr>
          <a:xfrm>
            <a:off x="502920" y="3547872"/>
            <a:ext cx="3931920" cy="914400"/>
          </a:xfrm>
          <a:prstGeom prst="roundRect">
            <a:avLst/>
          </a:prstGeom>
          <a:solidFill>
            <a:srgbClr val="FFFFFF"/>
          </a:solidFill>
          <a:ln w="1079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630936" y="3712463"/>
            <a:ext cx="438912" cy="283464"/>
          </a:xfrm>
          <a:prstGeom prst="roundRect">
            <a:avLst/>
          </a:prstGeom>
          <a:solidFill>
            <a:srgbClr val="FCEEE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050" b="1">
                <a:solidFill>
                  <a:srgbClr val="D6262B"/>
                </a:solidFill>
                <a:latin typeface="Times New Roman"/>
              </a:rPr>
              <a:t>05</a:t>
            </a:r>
          </a:p>
        </p:txBody>
      </p:sp>
      <p:sp>
        <p:nvSpPr>
          <p:cNvPr id="149" name="TextBox 148"/>
          <p:cNvSpPr txBox="1"/>
          <p:nvPr/>
        </p:nvSpPr>
        <p:spPr>
          <a:xfrm>
            <a:off x="1188720" y="3657600"/>
            <a:ext cx="3099815" cy="274320"/>
          </a:xfrm>
          <a:prstGeom prst="rect">
            <a:avLst/>
          </a:prstGeom>
          <a:noFill/>
        </p:spPr>
        <p:txBody>
          <a:bodyPr wrap="square" lIns="0" rIns="0" tIns="0" bIns="0" anchor="t">
            <a:spAutoFit/>
          </a:bodyPr>
          <a:lstStyle/>
          <a:p>
            <a:pPr>
              <a:buNone/>
            </a:pPr>
            <a:r>
              <a:rPr sz="1400" b="1">
                <a:solidFill>
                  <a:srgbClr val="000000"/>
                </a:solidFill>
                <a:latin typeface="Times New Roman"/>
              </a:rPr>
              <a:t>Project Workspace</a:t>
            </a:r>
          </a:p>
        </p:txBody>
      </p:sp>
      <p:sp>
        <p:nvSpPr>
          <p:cNvPr id="150" name="TextBox 149"/>
          <p:cNvSpPr txBox="1"/>
          <p:nvPr/>
        </p:nvSpPr>
        <p:spPr>
          <a:xfrm>
            <a:off x="1188720" y="3977639"/>
            <a:ext cx="3099815" cy="411479"/>
          </a:xfrm>
          <a:prstGeom prst="rect">
            <a:avLst/>
          </a:prstGeom>
          <a:noFill/>
        </p:spPr>
        <p:txBody>
          <a:bodyPr wrap="square" lIns="0" rIns="0" tIns="0" bIns="0" anchor="t">
            <a:spAutoFit/>
          </a:bodyPr>
          <a:lstStyle/>
          <a:p>
            <a:pPr>
              <a:lnSpc>
                <a:spcPct val="100000"/>
              </a:lnSpc>
              <a:buNone/>
            </a:pPr>
            <a:r>
              <a:rPr sz="1150">
                <a:solidFill>
                  <a:srgbClr val="444444"/>
                </a:solidFill>
                <a:latin typeface="Times New Roman"/>
              </a:rPr>
              <a:t>Provide files, preview, history, versions, restore and export.</a:t>
            </a:r>
          </a:p>
        </p:txBody>
      </p:sp>
      <p:sp>
        <p:nvSpPr>
          <p:cNvPr id="151" name="Rounded Rectangle 150"/>
          <p:cNvSpPr/>
          <p:nvPr/>
        </p:nvSpPr>
        <p:spPr>
          <a:xfrm>
            <a:off x="4709160" y="3547872"/>
            <a:ext cx="3931920" cy="914400"/>
          </a:xfrm>
          <a:prstGeom prst="roundRect">
            <a:avLst/>
          </a:prstGeom>
          <a:solidFill>
            <a:srgbClr val="FFFFFF"/>
          </a:solidFill>
          <a:ln w="1079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ounded Rectangle 151"/>
          <p:cNvSpPr/>
          <p:nvPr/>
        </p:nvSpPr>
        <p:spPr>
          <a:xfrm>
            <a:off x="4837176" y="3712463"/>
            <a:ext cx="438912" cy="283464"/>
          </a:xfrm>
          <a:prstGeom prst="roundRect">
            <a:avLst/>
          </a:prstGeom>
          <a:solidFill>
            <a:srgbClr val="FCEEE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050" b="1">
                <a:solidFill>
                  <a:srgbClr val="D6262B"/>
                </a:solidFill>
                <a:latin typeface="Times New Roman"/>
              </a:rPr>
              <a:t>06</a:t>
            </a:r>
          </a:p>
        </p:txBody>
      </p:sp>
      <p:sp>
        <p:nvSpPr>
          <p:cNvPr id="153" name="TextBox 152"/>
          <p:cNvSpPr txBox="1"/>
          <p:nvPr/>
        </p:nvSpPr>
        <p:spPr>
          <a:xfrm>
            <a:off x="5394960" y="3657600"/>
            <a:ext cx="3099815" cy="274320"/>
          </a:xfrm>
          <a:prstGeom prst="rect">
            <a:avLst/>
          </a:prstGeom>
          <a:noFill/>
        </p:spPr>
        <p:txBody>
          <a:bodyPr wrap="square" lIns="0" rIns="0" tIns="0" bIns="0" anchor="t">
            <a:spAutoFit/>
          </a:bodyPr>
          <a:lstStyle/>
          <a:p>
            <a:pPr>
              <a:buNone/>
            </a:pPr>
            <a:r>
              <a:rPr sz="1400" b="1">
                <a:solidFill>
                  <a:srgbClr val="000000"/>
                </a:solidFill>
                <a:latin typeface="Times New Roman"/>
              </a:rPr>
              <a:t>Reliable AI Routing</a:t>
            </a:r>
          </a:p>
        </p:txBody>
      </p:sp>
      <p:sp>
        <p:nvSpPr>
          <p:cNvPr id="154" name="TextBox 153"/>
          <p:cNvSpPr txBox="1"/>
          <p:nvPr/>
        </p:nvSpPr>
        <p:spPr>
          <a:xfrm>
            <a:off x="5394960" y="3977639"/>
            <a:ext cx="3099815" cy="411479"/>
          </a:xfrm>
          <a:prstGeom prst="rect">
            <a:avLst/>
          </a:prstGeom>
          <a:noFill/>
        </p:spPr>
        <p:txBody>
          <a:bodyPr wrap="square" lIns="0" rIns="0" tIns="0" bIns="0" anchor="t">
            <a:spAutoFit/>
          </a:bodyPr>
          <a:lstStyle/>
          <a:p>
            <a:pPr>
              <a:lnSpc>
                <a:spcPct val="100000"/>
              </a:lnSpc>
              <a:buNone/>
            </a:pPr>
            <a:r>
              <a:rPr sz="1150">
                <a:solidFill>
                  <a:srgbClr val="444444"/>
                </a:solidFill>
                <a:latin typeface="Times New Roman"/>
              </a:rPr>
              <a:t>Use Gemini, Groq and OpenRouter through controlled fallback.</a:t>
            </a:r>
          </a:p>
        </p:txBody>
      </p:sp>
      <p:sp>
        <p:nvSpPr>
          <p:cNvPr id="155" name="Rounded Rectangle 154"/>
          <p:cNvSpPr/>
          <p:nvPr/>
        </p:nvSpPr>
        <p:spPr>
          <a:xfrm>
            <a:off x="502920" y="4590288"/>
            <a:ext cx="8138160" cy="914400"/>
          </a:xfrm>
          <a:prstGeom prst="roundRect">
            <a:avLst/>
          </a:prstGeom>
          <a:solidFill>
            <a:srgbClr val="FFFFFF"/>
          </a:solidFill>
          <a:ln w="1079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ounded Rectangle 155"/>
          <p:cNvSpPr/>
          <p:nvPr/>
        </p:nvSpPr>
        <p:spPr>
          <a:xfrm>
            <a:off x="630936" y="4754879"/>
            <a:ext cx="438912" cy="283464"/>
          </a:xfrm>
          <a:prstGeom prst="roundRect">
            <a:avLst/>
          </a:prstGeom>
          <a:solidFill>
            <a:srgbClr val="FCEEE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050" b="1">
                <a:solidFill>
                  <a:srgbClr val="D6262B"/>
                </a:solidFill>
                <a:latin typeface="Times New Roman"/>
              </a:rPr>
              <a:t>07</a:t>
            </a:r>
          </a:p>
        </p:txBody>
      </p:sp>
      <p:sp>
        <p:nvSpPr>
          <p:cNvPr id="157" name="TextBox 156"/>
          <p:cNvSpPr txBox="1"/>
          <p:nvPr/>
        </p:nvSpPr>
        <p:spPr>
          <a:xfrm>
            <a:off x="1188720" y="4700016"/>
            <a:ext cx="7306056" cy="274320"/>
          </a:xfrm>
          <a:prstGeom prst="rect">
            <a:avLst/>
          </a:prstGeom>
          <a:noFill/>
        </p:spPr>
        <p:txBody>
          <a:bodyPr wrap="square" lIns="0" rIns="0" tIns="0" bIns="0" anchor="t">
            <a:spAutoFit/>
          </a:bodyPr>
          <a:lstStyle/>
          <a:p>
            <a:pPr>
              <a:buNone/>
            </a:pPr>
            <a:r>
              <a:rPr sz="1400" b="1">
                <a:solidFill>
                  <a:srgbClr val="000000"/>
                </a:solidFill>
                <a:latin typeface="Times New Roman"/>
              </a:rPr>
              <a:t>Quality &amp; Traceability</a:t>
            </a:r>
          </a:p>
        </p:txBody>
      </p:sp>
      <p:sp>
        <p:nvSpPr>
          <p:cNvPr id="158" name="TextBox 157"/>
          <p:cNvSpPr txBox="1"/>
          <p:nvPr/>
        </p:nvSpPr>
        <p:spPr>
          <a:xfrm>
            <a:off x="1188720" y="5020055"/>
            <a:ext cx="7306056" cy="411479"/>
          </a:xfrm>
          <a:prstGeom prst="rect">
            <a:avLst/>
          </a:prstGeom>
          <a:noFill/>
        </p:spPr>
        <p:txBody>
          <a:bodyPr wrap="square" lIns="0" rIns="0" tIns="0" bIns="0" anchor="t">
            <a:spAutoFit/>
          </a:bodyPr>
          <a:lstStyle/>
          <a:p>
            <a:pPr>
              <a:lnSpc>
                <a:spcPct val="100000"/>
              </a:lnSpc>
              <a:buNone/>
            </a:pPr>
            <a:r>
              <a:rPr sz="1150">
                <a:solidFill>
                  <a:srgbClr val="444444"/>
                </a:solidFill>
                <a:latin typeface="Times New Roman"/>
              </a:rPr>
              <a:t>Validate behavior and map requirements to files and tests.</a:t>
            </a:r>
          </a:p>
        </p:txBody>
      </p:sp>
      <p:sp>
        <p:nvSpPr>
          <p:cNvPr id="159" name="TextBox 158"/>
          <p:cNvSpPr txBox="1"/>
          <p:nvPr/>
        </p:nvSpPr>
        <p:spPr>
          <a:xfrm>
            <a:off x="502920" y="5669280"/>
            <a:ext cx="8138160" cy="256032"/>
          </a:xfrm>
          <a:prstGeom prst="rect">
            <a:avLst/>
          </a:prstGeom>
          <a:noFill/>
        </p:spPr>
        <p:txBody>
          <a:bodyPr wrap="square" lIns="0" rIns="0" tIns="0" bIns="0" anchor="t">
            <a:spAutoFit/>
          </a:bodyPr>
          <a:lstStyle/>
          <a:p>
            <a:pPr algn="ctr">
              <a:buNone/>
            </a:pPr>
            <a:r>
              <a:rPr sz="1150" i="1">
                <a:solidFill>
                  <a:srgbClr val="444444"/>
                </a:solidFill>
                <a:latin typeface="Times New Roman"/>
              </a:rPr>
              <a:t>The goal is a controlled journey from product idea to a working, reviewable application.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a64a40ef39_2_8"/>
          <p:cNvSpPr txBox="1">
            <a:spLocks noGrp="1"/>
          </p:cNvSpPr>
          <p:nvPr>
            <p:ph type="title"/>
          </p:nvPr>
        </p:nvSpPr>
        <p:spPr>
          <a:xfrm>
            <a:off x="457200" y="152718"/>
            <a:ext cx="5791200" cy="1371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METHODOLOGY </a:t>
            </a:r>
            <a:endParaRPr dirty="0">
              <a:latin typeface="Times New Roman" panose="02020603050405020304" pitchFamily="18" charset="0"/>
              <a:cs typeface="Times New Roman" panose="02020603050405020304" pitchFamily="18" charset="0"/>
            </a:endParaRPr>
          </a:p>
        </p:txBody>
      </p:sp>
      <p:sp>
        <p:nvSpPr>
          <p:cNvPr id="137" name="Google Shape;137;g3a64a40ef39_2_8"/>
          <p:cNvSpPr txBox="1">
            <a:spLocks noGrp="1"/>
          </p:cNvSpPr>
          <p:nvPr>
            <p:ph type="body" idx="1"/>
          </p:nvPr>
        </p:nvSpPr>
        <p:spPr>
          <a:xfrm>
            <a:off x="457200" y="1752600"/>
            <a:ext cx="7620000" cy="4373700"/>
          </a:xfrm>
          <a:prstGeom prst="rect">
            <a:avLst/>
          </a:prstGeom>
        </p:spPr>
        <p:txBody>
          <a:bodyPr spcFirstLastPara="1" wrap="square" lIns="0" tIns="0" rIns="0" bIns="0" anchor="t" anchorCtr="0">
            <a:normAutofit/>
          </a:bodyPr>
          <a:lstStyle/>
          <a:p>
            <a:pPr marL="457200" lvl="0" indent="-368300" algn="l" rtl="0">
              <a:lnSpc>
                <a:spcPct val="115000"/>
              </a:lnSpc>
              <a:spcBef>
                <a:spcPts val="0"/>
              </a:spcBef>
              <a:spcAft>
                <a:spcPts val="0"/>
              </a:spcAft>
              <a:buSzPts val="2200"/>
              <a:buFont typeface="Roboto"/>
              <a:buChar char="●"/>
            </a:pPr>
            <a:endParaRPr sz="2200" b="0" dirty="0">
              <a:latin typeface="Times New Roman" panose="02020603050405020304" pitchFamily="18" charset="0"/>
              <a:ea typeface="Roboto"/>
              <a:cs typeface="Times New Roman" panose="02020603050405020304" pitchFamily="18" charset="0"/>
              <a:sym typeface="Roboto"/>
            </a:endParaRPr>
          </a:p>
        </p:txBody>
      </p:sp>
      <p:sp>
        <p:nvSpPr>
          <p:cNvPr id="4" name="Slide Number Placeholder 3">
            <a:extLst>
              <a:ext uri="{FF2B5EF4-FFF2-40B4-BE49-F238E27FC236}">
                <a16:creationId xmlns:a16="http://schemas.microsoft.com/office/drawing/2014/main" id="{535B6E70-8782-7CF1-A492-D7C8D753238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7</a:t>
            </a:fld>
            <a:endParaRPr lang="en-IN"/>
          </a:p>
        </p:txBody>
      </p:sp>
      <p:sp>
        <p:nvSpPr>
          <p:cNvPr id="5" name="Footer Placeholder 4">
            <a:extLst>
              <a:ext uri="{FF2B5EF4-FFF2-40B4-BE49-F238E27FC236}">
                <a16:creationId xmlns:a16="http://schemas.microsoft.com/office/drawing/2014/main" id="{FBF5039F-2A94-A08F-F818-4DDB82E2B044}"/>
              </a:ext>
            </a:extLst>
          </p:cNvPr>
          <p:cNvSpPr>
            <a:spLocks noGrp="1"/>
          </p:cNvSpPr>
          <p:nvPr>
            <p:ph type="ftr" idx="11"/>
          </p:nvPr>
        </p:nvSpPr>
        <p:spPr>
          <a:xfrm>
            <a:off x="457200" y="6492875"/>
            <a:ext cx="8065008" cy="283845"/>
          </a:xfrm>
        </p:spPr>
        <p:txBody>
          <a:bodyPr/>
          <a:lstStyle/>
          <a:p>
            <a:r>
              <a:rPr lang="en-US" smtClean="0"/>
              <a:t>Dept. of CSE,BMSIT&amp;M                       7th Semester, MAJOR PROJECT PHASE-2 (BCS705) REVIEW ‘1                             AY : 2026-27 </a:t>
            </a:r>
            <a:endParaRPr lang="en-IN" dirty="0"/>
          </a:p>
        </p:txBody>
      </p:sp>
      <p:sp>
        <p:nvSpPr>
          <p:cNvPr id="138" name="TextBox 137"/>
          <p:cNvSpPr txBox="1"/>
          <p:nvPr/>
        </p:nvSpPr>
        <p:spPr>
          <a:xfrm>
            <a:off x="502920" y="1444752"/>
            <a:ext cx="2743200" cy="256032"/>
          </a:xfrm>
          <a:prstGeom prst="rect">
            <a:avLst/>
          </a:prstGeom>
          <a:noFill/>
        </p:spPr>
        <p:txBody>
          <a:bodyPr wrap="square" lIns="0" rIns="0" tIns="0" bIns="0" anchor="t">
            <a:spAutoFit/>
          </a:bodyPr>
          <a:lstStyle/>
          <a:p>
            <a:pPr algn="l">
              <a:buNone/>
            </a:pPr>
            <a:r>
              <a:rPr sz="1050" b="1">
                <a:solidFill>
                  <a:srgbClr val="D6262B"/>
                </a:solidFill>
                <a:latin typeface="Times New Roman"/>
              </a:rPr>
              <a:t>PLANNING &amp; APPROVAL</a:t>
            </a:r>
          </a:p>
        </p:txBody>
      </p:sp>
      <p:sp>
        <p:nvSpPr>
          <p:cNvPr id="139" name="Rounded Rectangle 138"/>
          <p:cNvSpPr/>
          <p:nvPr/>
        </p:nvSpPr>
        <p:spPr>
          <a:xfrm>
            <a:off x="502920" y="1737360"/>
            <a:ext cx="1874519" cy="12618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30936" y="1847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01</a:t>
            </a:r>
          </a:p>
        </p:txBody>
      </p:sp>
      <p:sp>
        <p:nvSpPr>
          <p:cNvPr id="141" name="TextBox 140"/>
          <p:cNvSpPr txBox="1"/>
          <p:nvPr/>
        </p:nvSpPr>
        <p:spPr>
          <a:xfrm>
            <a:off x="630936" y="2093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Understand Prompt</a:t>
            </a:r>
          </a:p>
        </p:txBody>
      </p:sp>
      <p:sp>
        <p:nvSpPr>
          <p:cNvPr id="142" name="TextBox 141"/>
          <p:cNvSpPr txBox="1"/>
          <p:nvPr/>
        </p:nvSpPr>
        <p:spPr>
          <a:xfrm>
            <a:off x="630936" y="2478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Identify users, features and visual rules.</a:t>
            </a:r>
          </a:p>
        </p:txBody>
      </p:sp>
      <p:sp>
        <p:nvSpPr>
          <p:cNvPr id="143" name="Right Arrow 142"/>
          <p:cNvSpPr/>
          <p:nvPr/>
        </p:nvSpPr>
        <p:spPr>
          <a:xfrm>
            <a:off x="2404872" y="2267712"/>
            <a:ext cx="219456" cy="201168"/>
          </a:xfrm>
          <a:prstGeom prst="right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2606040" y="1737360"/>
            <a:ext cx="1874519" cy="12618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734056" y="1847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02</a:t>
            </a:r>
          </a:p>
        </p:txBody>
      </p:sp>
      <p:sp>
        <p:nvSpPr>
          <p:cNvPr id="146" name="TextBox 145"/>
          <p:cNvSpPr txBox="1"/>
          <p:nvPr/>
        </p:nvSpPr>
        <p:spPr>
          <a:xfrm>
            <a:off x="2734056" y="2093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Plan Architecture</a:t>
            </a:r>
          </a:p>
        </p:txBody>
      </p:sp>
      <p:sp>
        <p:nvSpPr>
          <p:cNvPr id="147" name="TextBox 146"/>
          <p:cNvSpPr txBox="1"/>
          <p:nvPr/>
        </p:nvSpPr>
        <p:spPr>
          <a:xfrm>
            <a:off x="2734056" y="2478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Prepare scope, data, APIs and the test plan.</a:t>
            </a:r>
          </a:p>
        </p:txBody>
      </p:sp>
      <p:sp>
        <p:nvSpPr>
          <p:cNvPr id="148" name="Right Arrow 147"/>
          <p:cNvSpPr/>
          <p:nvPr/>
        </p:nvSpPr>
        <p:spPr>
          <a:xfrm>
            <a:off x="4507992" y="2267712"/>
            <a:ext cx="219456" cy="201168"/>
          </a:xfrm>
          <a:prstGeom prst="right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ounded Rectangle 148"/>
          <p:cNvSpPr/>
          <p:nvPr/>
        </p:nvSpPr>
        <p:spPr>
          <a:xfrm>
            <a:off x="4709160" y="1737360"/>
            <a:ext cx="1874519" cy="12618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837176" y="1847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03</a:t>
            </a:r>
          </a:p>
        </p:txBody>
      </p:sp>
      <p:sp>
        <p:nvSpPr>
          <p:cNvPr id="151" name="TextBox 150"/>
          <p:cNvSpPr txBox="1"/>
          <p:nvPr/>
        </p:nvSpPr>
        <p:spPr>
          <a:xfrm>
            <a:off x="4837176" y="2093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User Approval</a:t>
            </a:r>
          </a:p>
        </p:txBody>
      </p:sp>
      <p:sp>
        <p:nvSpPr>
          <p:cNvPr id="152" name="TextBox 151"/>
          <p:cNvSpPr txBox="1"/>
          <p:nvPr/>
        </p:nvSpPr>
        <p:spPr>
          <a:xfrm>
            <a:off x="4837176" y="2478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Edit the prompt or confirm the architecture.</a:t>
            </a:r>
          </a:p>
        </p:txBody>
      </p:sp>
      <p:sp>
        <p:nvSpPr>
          <p:cNvPr id="153" name="Right Arrow 152"/>
          <p:cNvSpPr/>
          <p:nvPr/>
        </p:nvSpPr>
        <p:spPr>
          <a:xfrm>
            <a:off x="6611112" y="2267712"/>
            <a:ext cx="219456" cy="201168"/>
          </a:xfrm>
          <a:prstGeom prst="right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ounded Rectangle 153"/>
          <p:cNvSpPr/>
          <p:nvPr/>
        </p:nvSpPr>
        <p:spPr>
          <a:xfrm>
            <a:off x="6812280" y="1737360"/>
            <a:ext cx="1874519" cy="12618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940296" y="1847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04</a:t>
            </a:r>
          </a:p>
        </p:txBody>
      </p:sp>
      <p:sp>
        <p:nvSpPr>
          <p:cNvPr id="156" name="TextBox 155"/>
          <p:cNvSpPr txBox="1"/>
          <p:nvPr/>
        </p:nvSpPr>
        <p:spPr>
          <a:xfrm>
            <a:off x="6940296" y="2093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Generate Full Stack</a:t>
            </a:r>
          </a:p>
        </p:txBody>
      </p:sp>
      <p:sp>
        <p:nvSpPr>
          <p:cNvPr id="157" name="TextBox 156"/>
          <p:cNvSpPr txBox="1"/>
          <p:nvPr/>
        </p:nvSpPr>
        <p:spPr>
          <a:xfrm>
            <a:off x="6940296" y="2478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Create the React frontend and Python backend.</a:t>
            </a:r>
          </a:p>
        </p:txBody>
      </p:sp>
      <p:sp>
        <p:nvSpPr>
          <p:cNvPr id="158" name="Down Arrow 157"/>
          <p:cNvSpPr/>
          <p:nvPr/>
        </p:nvSpPr>
        <p:spPr>
          <a:xfrm>
            <a:off x="7616952" y="3054096"/>
            <a:ext cx="256032" cy="347472"/>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02920" y="3675887"/>
            <a:ext cx="2743200" cy="256032"/>
          </a:xfrm>
          <a:prstGeom prst="rect">
            <a:avLst/>
          </a:prstGeom>
          <a:noFill/>
        </p:spPr>
        <p:txBody>
          <a:bodyPr wrap="square" lIns="0" rIns="0" tIns="0" bIns="0" anchor="t">
            <a:spAutoFit/>
          </a:bodyPr>
          <a:lstStyle/>
          <a:p>
            <a:pPr algn="l">
              <a:buNone/>
            </a:pPr>
            <a:r>
              <a:rPr sz="1050" b="1">
                <a:solidFill>
                  <a:srgbClr val="D6262B"/>
                </a:solidFill>
                <a:latin typeface="Times New Roman"/>
              </a:rPr>
              <a:t>BUILD &amp; VERIFY</a:t>
            </a:r>
          </a:p>
        </p:txBody>
      </p:sp>
      <p:sp>
        <p:nvSpPr>
          <p:cNvPr id="160" name="Rounded Rectangle 159"/>
          <p:cNvSpPr/>
          <p:nvPr/>
        </p:nvSpPr>
        <p:spPr>
          <a:xfrm>
            <a:off x="6812280" y="4023360"/>
            <a:ext cx="1874519" cy="12618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940296" y="4133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05</a:t>
            </a:r>
          </a:p>
        </p:txBody>
      </p:sp>
      <p:sp>
        <p:nvSpPr>
          <p:cNvPr id="162" name="TextBox 161"/>
          <p:cNvSpPr txBox="1"/>
          <p:nvPr/>
        </p:nvSpPr>
        <p:spPr>
          <a:xfrm>
            <a:off x="6940296" y="4379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Engineering Discipline</a:t>
            </a:r>
          </a:p>
        </p:txBody>
      </p:sp>
      <p:sp>
        <p:nvSpPr>
          <p:cNvPr id="163" name="TextBox 162"/>
          <p:cNvSpPr txBox="1"/>
          <p:nvPr/>
        </p:nvSpPr>
        <p:spPr>
          <a:xfrm>
            <a:off x="6940296" y="4764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Use scoped work, review and bounded repair.</a:t>
            </a:r>
          </a:p>
        </p:txBody>
      </p:sp>
      <p:sp>
        <p:nvSpPr>
          <p:cNvPr id="164" name="Left Arrow 163"/>
          <p:cNvSpPr/>
          <p:nvPr/>
        </p:nvSpPr>
        <p:spPr>
          <a:xfrm>
            <a:off x="6565392" y="4553712"/>
            <a:ext cx="219456" cy="201168"/>
          </a:xfrm>
          <a:prstGeom prst="left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4709160" y="4023360"/>
            <a:ext cx="1874519" cy="12618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4837176" y="4133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06</a:t>
            </a:r>
          </a:p>
        </p:txBody>
      </p:sp>
      <p:sp>
        <p:nvSpPr>
          <p:cNvPr id="167" name="TextBox 166"/>
          <p:cNvSpPr txBox="1"/>
          <p:nvPr/>
        </p:nvSpPr>
        <p:spPr>
          <a:xfrm>
            <a:off x="4837176" y="4379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Validate Result</a:t>
            </a:r>
          </a:p>
        </p:txBody>
      </p:sp>
      <p:sp>
        <p:nvSpPr>
          <p:cNvPr id="168" name="TextBox 167"/>
          <p:cNvSpPr txBox="1"/>
          <p:nvPr/>
        </p:nvSpPr>
        <p:spPr>
          <a:xfrm>
            <a:off x="4837176" y="4764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Check build, APIs, controls and accessibility.</a:t>
            </a:r>
          </a:p>
        </p:txBody>
      </p:sp>
      <p:sp>
        <p:nvSpPr>
          <p:cNvPr id="169" name="Left Arrow 168"/>
          <p:cNvSpPr/>
          <p:nvPr/>
        </p:nvSpPr>
        <p:spPr>
          <a:xfrm>
            <a:off x="4462272" y="4553712"/>
            <a:ext cx="219456" cy="201168"/>
          </a:xfrm>
          <a:prstGeom prst="left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ounded Rectangle 169"/>
          <p:cNvSpPr/>
          <p:nvPr/>
        </p:nvSpPr>
        <p:spPr>
          <a:xfrm>
            <a:off x="2606040" y="4023360"/>
            <a:ext cx="1874519" cy="12618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734056" y="4133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07</a:t>
            </a:r>
          </a:p>
        </p:txBody>
      </p:sp>
      <p:sp>
        <p:nvSpPr>
          <p:cNvPr id="172" name="TextBox 171"/>
          <p:cNvSpPr txBox="1"/>
          <p:nvPr/>
        </p:nvSpPr>
        <p:spPr>
          <a:xfrm>
            <a:off x="2734056" y="4379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Version &amp; Trace</a:t>
            </a:r>
          </a:p>
        </p:txBody>
      </p:sp>
      <p:sp>
        <p:nvSpPr>
          <p:cNvPr id="173" name="TextBox 172"/>
          <p:cNvSpPr txBox="1"/>
          <p:nvPr/>
        </p:nvSpPr>
        <p:spPr>
          <a:xfrm>
            <a:off x="2734056" y="4764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Save files, versions and the review graph.</a:t>
            </a:r>
          </a:p>
        </p:txBody>
      </p:sp>
      <p:sp>
        <p:nvSpPr>
          <p:cNvPr id="174" name="Left Arrow 173"/>
          <p:cNvSpPr/>
          <p:nvPr/>
        </p:nvSpPr>
        <p:spPr>
          <a:xfrm>
            <a:off x="2359152" y="4553712"/>
            <a:ext cx="219456" cy="201168"/>
          </a:xfrm>
          <a:prstGeom prst="left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ounded Rectangle 174"/>
          <p:cNvSpPr/>
          <p:nvPr/>
        </p:nvSpPr>
        <p:spPr>
          <a:xfrm>
            <a:off x="502920" y="4023360"/>
            <a:ext cx="1874519" cy="1261872"/>
          </a:xfrm>
          <a:prstGeom prst="roundRect">
            <a:avLst/>
          </a:prstGeom>
          <a:solidFill>
            <a:srgbClr val="FCEEEF"/>
          </a:solidFill>
          <a:ln w="12700">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30936" y="4133088"/>
            <a:ext cx="338328" cy="228600"/>
          </a:xfrm>
          <a:prstGeom prst="rect">
            <a:avLst/>
          </a:prstGeom>
          <a:noFill/>
        </p:spPr>
        <p:txBody>
          <a:bodyPr wrap="square" lIns="0" rIns="0" tIns="0" bIns="0" anchor="t">
            <a:spAutoFit/>
          </a:bodyPr>
          <a:lstStyle/>
          <a:p>
            <a:pPr>
              <a:buNone/>
            </a:pPr>
            <a:r>
              <a:rPr sz="1050" b="1">
                <a:solidFill>
                  <a:srgbClr val="D6262B"/>
                </a:solidFill>
                <a:latin typeface="Times New Roman"/>
              </a:rPr>
              <a:t>✓</a:t>
            </a:r>
          </a:p>
        </p:txBody>
      </p:sp>
      <p:sp>
        <p:nvSpPr>
          <p:cNvPr id="177" name="TextBox 176"/>
          <p:cNvSpPr txBox="1"/>
          <p:nvPr/>
        </p:nvSpPr>
        <p:spPr>
          <a:xfrm>
            <a:off x="630936" y="4379976"/>
            <a:ext cx="1618488" cy="347472"/>
          </a:xfrm>
          <a:prstGeom prst="rect">
            <a:avLst/>
          </a:prstGeom>
          <a:noFill/>
        </p:spPr>
        <p:txBody>
          <a:bodyPr wrap="square" lIns="0" rIns="0" tIns="0" bIns="0" anchor="t">
            <a:spAutoFit/>
          </a:bodyPr>
          <a:lstStyle/>
          <a:p>
            <a:pPr>
              <a:buNone/>
            </a:pPr>
            <a:r>
              <a:rPr sz="1300" b="1">
                <a:solidFill>
                  <a:srgbClr val="000000"/>
                </a:solidFill>
                <a:latin typeface="Times New Roman"/>
              </a:rPr>
              <a:t>Ready Project</a:t>
            </a:r>
          </a:p>
        </p:txBody>
      </p:sp>
      <p:sp>
        <p:nvSpPr>
          <p:cNvPr id="178" name="TextBox 177"/>
          <p:cNvSpPr txBox="1"/>
          <p:nvPr/>
        </p:nvSpPr>
        <p:spPr>
          <a:xfrm>
            <a:off x="630936" y="4764024"/>
            <a:ext cx="1618488" cy="393192"/>
          </a:xfrm>
          <a:prstGeom prst="rect">
            <a:avLst/>
          </a:prstGeom>
          <a:noFill/>
        </p:spPr>
        <p:txBody>
          <a:bodyPr wrap="square" lIns="0" rIns="0" tIns="0" bIns="0" anchor="t">
            <a:spAutoFit/>
          </a:bodyPr>
          <a:lstStyle/>
          <a:p>
            <a:pPr>
              <a:lnSpc>
                <a:spcPct val="100000"/>
              </a:lnSpc>
              <a:buNone/>
            </a:pPr>
            <a:r>
              <a:rPr sz="1050">
                <a:solidFill>
                  <a:srgbClr val="444444"/>
                </a:solidFill>
                <a:latin typeface="Times New Roman"/>
              </a:rPr>
              <a:t>Deliver a reviewable full-stack workspace.</a:t>
            </a:r>
          </a:p>
        </p:txBody>
      </p:sp>
      <p:sp>
        <p:nvSpPr>
          <p:cNvPr id="179" name="TextBox 178"/>
          <p:cNvSpPr txBox="1"/>
          <p:nvPr/>
        </p:nvSpPr>
        <p:spPr>
          <a:xfrm>
            <a:off x="1143000" y="5541264"/>
            <a:ext cx="6858000" cy="347472"/>
          </a:xfrm>
          <a:prstGeom prst="rect">
            <a:avLst/>
          </a:prstGeom>
          <a:noFill/>
        </p:spPr>
        <p:txBody>
          <a:bodyPr wrap="square" lIns="0" rIns="0" tIns="0" bIns="0" anchor="t">
            <a:spAutoFit/>
          </a:bodyPr>
          <a:lstStyle/>
          <a:p>
            <a:pPr algn="ctr">
              <a:buNone/>
            </a:pPr>
            <a:r>
              <a:rPr sz="1200" b="1">
                <a:solidFill>
                  <a:srgbClr val="D6262B"/>
                </a:solidFill>
                <a:latin typeface="Times New Roman"/>
              </a:rPr>
              <a:t>Code generation begins only after architecture approval.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a64a40ef39_2_30"/>
          <p:cNvSpPr txBox="1">
            <a:spLocks noGrp="1"/>
          </p:cNvSpPr>
          <p:nvPr>
            <p:ph type="title"/>
          </p:nvPr>
        </p:nvSpPr>
        <p:spPr>
          <a:xfrm>
            <a:off x="457200" y="152725"/>
            <a:ext cx="8467344" cy="1371600"/>
          </a:xfrm>
          <a:prstGeom prst="rect">
            <a:avLst/>
          </a:prstGeom>
        </p:spPr>
        <p:txBody>
          <a:bodyPr spcFirstLastPara="1" wrap="square" lIns="0" tIns="0" rIns="0" bIns="0" anchor="ctr" anchorCtr="0">
            <a:normAutofit/>
          </a:bodyPr>
          <a:lstStyle/>
          <a:p>
            <a:pPr marL="0" lvl="0" indent="0" algn="l" rtl="0">
              <a:buNone/>
              <a:lnSpc>
                <a:spcPct val="120000"/>
              </a:lnSpc>
              <a:spcBef>
                <a:spcPts val="1118"/>
              </a:spcBef>
              <a:spcAft>
                <a:spcPts val="0"/>
              </a:spcAft>
            </a:pPr>
            <a:r>
              <a:rPr sz="2500" b="0">
                <a:solidFill>
                  <a:srgbClr val="D6262B"/>
                </a:solidFill>
                <a:latin typeface="Times New Roman"/>
              </a:rPr>
              <a:t>DEMONSTRATION OF PROJECT EXECUTION</a:t>
            </a:r>
            <a:endParaRPr lang="en-IN" dirty="0">
              <a:solidFill>
                <a:schemeClr val="bg2"/>
              </a:solidFill>
              <a:latin typeface="Times New Roman" panose="02020603050405020304" pitchFamily="18" charset="0"/>
              <a:cs typeface="Times New Roman" panose="02020603050405020304" pitchFamily="18" charset="0"/>
            </a:endParaRPr>
          </a:p>
        </p:txBody>
      </p:sp>
      <p:sp>
        <p:nvSpPr>
          <p:cNvPr id="158" name="Google Shape;158;g3a64a40ef39_2_30"/>
          <p:cNvSpPr txBox="1">
            <a:spLocks noGrp="1"/>
          </p:cNvSpPr>
          <p:nvPr>
            <p:ph type="body" idx="1"/>
          </p:nvPr>
        </p:nvSpPr>
        <p:spPr>
          <a:xfrm>
            <a:off x="457200" y="1481328"/>
            <a:ext cx="2743200" cy="4526280"/>
          </a:xfrm>
          <a:prstGeom prst="rect">
            <a:avLst/>
          </a:prstGeom>
        </p:spPr>
        <p:txBody>
          <a:bodyPr spcFirstLastPara="1" wrap="square" lIns="36576" tIns="36576" rIns="36576" bIns="36576" anchor="t" anchorCtr="0">
            <a:normAutofit/>
          </a:bodyPr>
          <a:lstStyle/>
          <a:p>
            <a:pPr algn="l">
              <a:buNone/>
              <a:lnSpc>
                <a:spcPct val="100000"/>
              </a:lnSpc>
              <a:spcAft>
                <a:spcPts val="400"/>
              </a:spcAft>
              <a:buFont typeface="Arial" panose="020B0604020202020204" pitchFamily="34" charset="0"/>
            </a:pPr>
            <a:r>
              <a:rPr sz="1600" b="1">
                <a:solidFill>
                  <a:srgbClr val="000000"/>
                </a:solidFill>
                <a:latin typeface="Times New Roman"/>
              </a:rPr>
              <a:t>Working flow</a:t>
            </a:r>
          </a:p>
          <a:p>
            <a:pPr algn="l">
              <a:lnSpc>
                <a:spcPct val="100000"/>
              </a:lnSpc>
              <a:spcAft>
                <a:spcPts val="300"/>
              </a:spcAft>
              <a:buNone/>
            </a:pPr>
            <a:r>
              <a:rPr sz="1400" b="0">
                <a:solidFill>
                  <a:srgbClr val="000000"/>
                </a:solidFill>
                <a:latin typeface="Times New Roman"/>
              </a:rPr>
              <a:t>• Enter a product idea in the prompt box.</a:t>
            </a:r>
          </a:p>
          <a:p>
            <a:pPr algn="l">
              <a:lnSpc>
                <a:spcPct val="100000"/>
              </a:lnSpc>
              <a:spcAft>
                <a:spcPts val="300"/>
              </a:spcAft>
              <a:buNone/>
            </a:pPr>
            <a:r>
              <a:rPr sz="1400" b="0">
                <a:solidFill>
                  <a:srgbClr val="000000"/>
                </a:solidFill>
                <a:latin typeface="Times New Roman"/>
              </a:rPr>
              <a:t>• Review requirements and ARCHITECTURE.md.</a:t>
            </a:r>
          </a:p>
          <a:p>
            <a:pPr algn="l">
              <a:lnSpc>
                <a:spcPct val="100000"/>
              </a:lnSpc>
              <a:spcAft>
                <a:spcPts val="300"/>
              </a:spcAft>
              <a:buNone/>
            </a:pPr>
            <a:r>
              <a:rPr sz="1400" b="0">
                <a:solidFill>
                  <a:srgbClr val="000000"/>
                </a:solidFill>
                <a:latin typeface="Times New Roman"/>
              </a:rPr>
              <a:t>• Edit the prompt or confirm generation.</a:t>
            </a:r>
          </a:p>
          <a:p>
            <a:pPr algn="l">
              <a:lnSpc>
                <a:spcPct val="100000"/>
              </a:lnSpc>
              <a:spcAft>
                <a:spcPts val="300"/>
              </a:spcAft>
              <a:buNone/>
            </a:pPr>
            <a:r>
              <a:rPr sz="1400" b="0">
                <a:solidFill>
                  <a:srgbClr val="000000"/>
                </a:solidFill>
                <a:latin typeface="Times New Roman"/>
              </a:rPr>
              <a:t>• Open frontend, backend, contract, and test files.</a:t>
            </a:r>
          </a:p>
          <a:p>
            <a:pPr algn="l">
              <a:lnSpc>
                <a:spcPct val="100000"/>
              </a:lnSpc>
              <a:spcAft>
                <a:spcPts val="300"/>
              </a:spcAft>
              <a:buNone/>
            </a:pPr>
            <a:r>
              <a:rPr sz="1400" b="0">
                <a:solidFill>
                  <a:srgbClr val="000000"/>
                </a:solidFill>
                <a:latin typeface="Times New Roman"/>
              </a:rPr>
              <a:t>• Run the responsive preview and save a version.</a:t>
            </a:r>
          </a:p>
          <a:p>
            <a:pPr algn="l">
              <a:lnSpc>
                <a:spcPct val="100000"/>
              </a:lnSpc>
              <a:spcAft>
                <a:spcPts val="300"/>
              </a:spcAft>
              <a:buNone/>
            </a:pPr>
            <a:r>
              <a:rPr sz="1600" b="1">
                <a:solidFill>
                  <a:srgbClr val="000000"/>
                </a:solidFill>
                <a:latin typeface="Times New Roman"/>
              </a:rPr>
              <a:t>Implemented stack</a:t>
            </a:r>
          </a:p>
          <a:p>
            <a:pPr algn="l">
              <a:lnSpc>
                <a:spcPct val="100000"/>
              </a:lnSpc>
              <a:spcAft>
                <a:spcPts val="200"/>
              </a:spcAft>
              <a:buNone/>
            </a:pPr>
            <a:r>
              <a:rPr sz="1300" b="0">
                <a:solidFill>
                  <a:srgbClr val="000000"/>
                </a:solidFill>
                <a:latin typeface="Times New Roman"/>
              </a:rPr>
              <a:t>React 19 • TypeScript • Vite • Node.js • FastAPI output • Playwright • GSAP • Anime.js • Three.js</a:t>
            </a:r>
          </a:p>
        </p:txBody>
      </p:sp>
      <p:sp>
        <p:nvSpPr>
          <p:cNvPr id="4" name="Slide Number Placeholder 3">
            <a:extLst>
              <a:ext uri="{FF2B5EF4-FFF2-40B4-BE49-F238E27FC236}">
                <a16:creationId xmlns:a16="http://schemas.microsoft.com/office/drawing/2014/main" id="{F55FDBD6-0110-1520-ABF8-F9C077D79D8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8</a:t>
            </a:fld>
            <a:endParaRPr lang="en-IN"/>
          </a:p>
        </p:txBody>
      </p:sp>
      <p:sp>
        <p:nvSpPr>
          <p:cNvPr id="5" name="Footer Placeholder 4">
            <a:extLst>
              <a:ext uri="{FF2B5EF4-FFF2-40B4-BE49-F238E27FC236}">
                <a16:creationId xmlns:a16="http://schemas.microsoft.com/office/drawing/2014/main" id="{6E93C23F-4D2B-57A9-1A85-3DA16F71FCF3}"/>
              </a:ext>
            </a:extLst>
          </p:cNvPr>
          <p:cNvSpPr>
            <a:spLocks noGrp="1"/>
          </p:cNvSpPr>
          <p:nvPr>
            <p:ph type="ftr" idx="11"/>
          </p:nvPr>
        </p:nvSpPr>
        <p:spPr>
          <a:xfrm>
            <a:off x="457200" y="6492875"/>
            <a:ext cx="8119872" cy="283845"/>
          </a:xfrm>
        </p:spPr>
        <p:txBody>
          <a:bodyPr/>
          <a:lstStyle/>
          <a:p>
            <a:r>
              <a:rPr lang="en-US" smtClean="0"/>
              <a:t>Dept. of CSE,BMSIT&amp;M                       7th Semester, MAJOR PROJECT PHASE-2 (BCS705) REVIEW ‘1                             AY : 2026-27 </a:t>
            </a:r>
            <a:endParaRPr lang="en-IN" dirty="0"/>
          </a:p>
        </p:txBody>
      </p:sp>
      <p:pic>
        <p:nvPicPr>
          <p:cNvPr id="159" name="Picture 158" descr="forgeweb-preview-desktop.png"/>
          <p:cNvPicPr>
            <a:picLocks noChangeAspect="1"/>
          </p:cNvPicPr>
          <p:nvPr/>
        </p:nvPicPr>
        <p:blipFill>
          <a:blip r:embed="rId3"/>
          <a:srcRect t="25397" b="25397"/>
          <a:stretch>
            <a:fillRect/>
          </a:stretch>
        </p:blipFill>
        <p:spPr>
          <a:xfrm>
            <a:off x="3401568" y="1536192"/>
            <a:ext cx="5230368" cy="1965960"/>
          </a:xfrm>
          <a:prstGeom prst="rect">
            <a:avLst/>
          </a:prstGeom>
        </p:spPr>
      </p:pic>
      <p:sp>
        <p:nvSpPr>
          <p:cNvPr id="160" name="TextBox 159"/>
          <p:cNvSpPr txBox="1"/>
          <p:nvPr/>
        </p:nvSpPr>
        <p:spPr>
          <a:xfrm>
            <a:off x="3401568" y="3529584"/>
            <a:ext cx="5230368" cy="228600"/>
          </a:xfrm>
          <a:prstGeom prst="rect">
            <a:avLst/>
          </a:prstGeom>
          <a:noFill/>
        </p:spPr>
        <p:txBody>
          <a:bodyPr wrap="square" lIns="0" rIns="0" tIns="0" bIns="0" anchor="t">
            <a:spAutoFit/>
          </a:bodyPr>
          <a:lstStyle/>
          <a:p>
            <a:pPr algn="ctr"/>
            <a:r>
              <a:rPr sz="1000" i="1">
                <a:solidFill>
                  <a:srgbClr val="444444"/>
                </a:solidFill>
                <a:latin typeface="Times New Roman"/>
              </a:rPr>
              <a:t>ForgeWeb prompt and architecture-first entry point</a:t>
            </a:r>
          </a:p>
        </p:txBody>
      </p:sp>
      <p:pic>
        <p:nvPicPr>
          <p:cNvPr id="161" name="Picture 160" descr="generated-aura-cream-preview.png"/>
          <p:cNvPicPr>
            <a:picLocks noChangeAspect="1"/>
          </p:cNvPicPr>
          <p:nvPr/>
        </p:nvPicPr>
        <p:blipFill>
          <a:blip r:embed="rId4"/>
          <a:srcRect t="7112" b="7112"/>
          <a:stretch>
            <a:fillRect/>
          </a:stretch>
        </p:blipFill>
        <p:spPr>
          <a:xfrm>
            <a:off x="3401568" y="3803904"/>
            <a:ext cx="2532888" cy="1508760"/>
          </a:xfrm>
          <a:prstGeom prst="rect">
            <a:avLst/>
          </a:prstGeom>
        </p:spPr>
      </p:pic>
      <p:sp>
        <p:nvSpPr>
          <p:cNvPr id="162" name="TextBox 161"/>
          <p:cNvSpPr txBox="1"/>
          <p:nvPr/>
        </p:nvSpPr>
        <p:spPr>
          <a:xfrm>
            <a:off x="3401568" y="5340096"/>
            <a:ext cx="2532888" cy="228600"/>
          </a:xfrm>
          <a:prstGeom prst="rect">
            <a:avLst/>
          </a:prstGeom>
          <a:noFill/>
        </p:spPr>
        <p:txBody>
          <a:bodyPr wrap="square" lIns="0" rIns="0" tIns="0" bIns="0" anchor="t">
            <a:spAutoFit/>
          </a:bodyPr>
          <a:lstStyle/>
          <a:p>
            <a:pPr algn="ctr"/>
            <a:r>
              <a:rPr sz="1000" i="1">
                <a:solidFill>
                  <a:srgbClr val="444444"/>
                </a:solidFill>
                <a:latin typeface="Times New Roman"/>
              </a:rPr>
              <a:t>Prompt-specific client portal</a:t>
            </a:r>
          </a:p>
        </p:txBody>
      </p:sp>
      <p:pic>
        <p:nvPicPr>
          <p:cNvPr id="163" name="Picture 162" descr="generated-ecommerce-preview.png"/>
          <p:cNvPicPr>
            <a:picLocks noChangeAspect="1"/>
          </p:cNvPicPr>
          <p:nvPr/>
        </p:nvPicPr>
        <p:blipFill>
          <a:blip r:embed="rId5"/>
          <a:srcRect t="7112" b="7112"/>
          <a:stretch>
            <a:fillRect/>
          </a:stretch>
        </p:blipFill>
        <p:spPr>
          <a:xfrm>
            <a:off x="6099048" y="3803904"/>
            <a:ext cx="2532888" cy="1508760"/>
          </a:xfrm>
          <a:prstGeom prst="rect">
            <a:avLst/>
          </a:prstGeom>
        </p:spPr>
      </p:pic>
      <p:sp>
        <p:nvSpPr>
          <p:cNvPr id="164" name="TextBox 163"/>
          <p:cNvSpPr txBox="1"/>
          <p:nvPr/>
        </p:nvSpPr>
        <p:spPr>
          <a:xfrm>
            <a:off x="6099048" y="5340096"/>
            <a:ext cx="2532888" cy="228600"/>
          </a:xfrm>
          <a:prstGeom prst="rect">
            <a:avLst/>
          </a:prstGeom>
          <a:noFill/>
        </p:spPr>
        <p:txBody>
          <a:bodyPr wrap="square" lIns="0" rIns="0" tIns="0" bIns="0" anchor="t">
            <a:spAutoFit/>
          </a:bodyPr>
          <a:lstStyle/>
          <a:p>
            <a:pPr algn="ctr"/>
            <a:r>
              <a:rPr sz="1000" i="1">
                <a:solidFill>
                  <a:srgbClr val="444444"/>
                </a:solidFill>
                <a:latin typeface="Times New Roman"/>
              </a:rPr>
              <a:t>Prompt-specific e-commerce site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a64a40ef39_2_37"/>
          <p:cNvSpPr txBox="1">
            <a:spLocks noGrp="1"/>
          </p:cNvSpPr>
          <p:nvPr>
            <p:ph type="title"/>
          </p:nvPr>
        </p:nvSpPr>
        <p:spPr>
          <a:xfrm>
            <a:off x="457200" y="152725"/>
            <a:ext cx="7729200" cy="1371600"/>
          </a:xfrm>
          <a:prstGeom prst="rect">
            <a:avLst/>
          </a:prstGeom>
        </p:spPr>
        <p:txBody>
          <a:bodyPr spcFirstLastPara="1" wrap="square" lIns="0" tIns="0" rIns="0" bIns="0" anchor="ctr" anchorCtr="0">
            <a:normAutofit/>
          </a:bodyPr>
          <a:lstStyle/>
          <a:p>
            <a:pPr algn="l">
              <a:buNone/>
            </a:pPr>
            <a:r>
              <a:rPr sz="2500" b="0">
                <a:solidFill>
                  <a:srgbClr val="D6262B"/>
                </a:solidFill>
                <a:latin typeface="Times New Roman"/>
              </a:rPr>
              <a:t>EXPERIMENTAL SETUP, RESULTS &amp; ANALYSIS</a:t>
            </a:r>
          </a:p>
        </p:txBody>
      </p:sp>
      <p:sp>
        <p:nvSpPr>
          <p:cNvPr id="165" name="Google Shape;165;g3a64a40ef39_2_37"/>
          <p:cNvSpPr txBox="1">
            <a:spLocks noGrp="1"/>
          </p:cNvSpPr>
          <p:nvPr>
            <p:ph type="body" idx="1"/>
          </p:nvPr>
        </p:nvSpPr>
        <p:spPr>
          <a:xfrm>
            <a:off x="457200" y="1481328"/>
            <a:ext cx="3072384" cy="4526280"/>
          </a:xfrm>
          <a:prstGeom prst="rect">
            <a:avLst/>
          </a:prstGeom>
        </p:spPr>
        <p:txBody>
          <a:bodyPr spcFirstLastPara="1" wrap="square" lIns="36576" tIns="36576" rIns="36576" bIns="36576" anchor="t" anchorCtr="0">
            <a:normAutofit/>
          </a:bodyPr>
          <a:lstStyle/>
          <a:p>
            <a:pPr algn="l">
              <a:lnSpc>
                <a:spcPct val="100000"/>
              </a:lnSpc>
              <a:spcAft>
                <a:spcPts val="300"/>
              </a:spcAft>
              <a:buNone/>
            </a:pPr>
            <a:r>
              <a:rPr sz="1500" b="1">
                <a:solidFill>
                  <a:srgbClr val="000000"/>
                </a:solidFill>
                <a:latin typeface="Times New Roman"/>
              </a:rPr>
              <a:t>Experimental setup</a:t>
            </a:r>
            <a:endParaRPr lang="en-IN" sz="2400" b="0" i="0" dirty="0">
              <a:solidFill>
                <a:srgbClr val="000000"/>
              </a:solidFill>
              <a:effectLst/>
              <a:latin typeface="Times New Roman" panose="02020603050405020304" pitchFamily="18" charset="0"/>
              <a:cs typeface="Times New Roman" panose="02020603050405020304" pitchFamily="18" charset="0"/>
            </a:endParaRPr>
          </a:p>
          <a:p>
            <a:pPr algn="l">
              <a:lnSpc>
                <a:spcPct val="100000"/>
              </a:lnSpc>
              <a:spcAft>
                <a:spcPts val="700"/>
              </a:spcAft>
              <a:buNone/>
            </a:pPr>
            <a:r>
              <a:rPr sz="1250" b="0">
                <a:solidFill>
                  <a:srgbClr val="000000"/>
                </a:solidFill>
                <a:latin typeface="Times New Roman"/>
              </a:rPr>
              <a:t>The platform was tested with prompts for portals, online stores, restaurants, inventory systems and schedulers. Each generated site was checked in the browser for layout, responsiveness and working controls.</a:t>
            </a:r>
          </a:p>
          <a:p>
            <a:pPr algn="l">
              <a:lnSpc>
                <a:spcPct val="100000"/>
              </a:lnSpc>
              <a:spcAft>
                <a:spcPts val="300"/>
              </a:spcAft>
              <a:buNone/>
            </a:pPr>
            <a:r>
              <a:rPr sz="1500" b="1">
                <a:solidFill>
                  <a:srgbClr val="000000"/>
                </a:solidFill>
                <a:latin typeface="Times New Roman"/>
              </a:rPr>
              <a:t>Results</a:t>
            </a:r>
          </a:p>
          <a:p>
            <a:pPr algn="l">
              <a:lnSpc>
                <a:spcPct val="100000"/>
              </a:lnSpc>
              <a:spcAft>
                <a:spcPts val="700"/>
              </a:spcAft>
              <a:buNone/>
            </a:pPr>
            <a:r>
              <a:rPr sz="1250" b="0">
                <a:solidFill>
                  <a:srgbClr val="000000"/>
                </a:solidFill>
                <a:latin typeface="Times New Roman"/>
              </a:rPr>
              <a:t>The websites followed the requested product type, content and visual direction. Navigation, forms, search, file viewing, preview and project actions worked as intended.</a:t>
            </a:r>
          </a:p>
          <a:p>
            <a:pPr algn="l">
              <a:lnSpc>
                <a:spcPct val="100000"/>
              </a:lnSpc>
              <a:spcAft>
                <a:spcPts val="300"/>
              </a:spcAft>
              <a:buNone/>
            </a:pPr>
            <a:r>
              <a:rPr sz="1500" b="1">
                <a:solidFill>
                  <a:srgbClr val="000000"/>
                </a:solidFill>
                <a:latin typeface="Times New Roman"/>
              </a:rPr>
              <a:t>Analysis</a:t>
            </a:r>
          </a:p>
          <a:p>
            <a:pPr algn="l">
              <a:lnSpc>
                <a:spcPct val="100000"/>
              </a:lnSpc>
              <a:spcAft>
                <a:spcPts val="500"/>
              </a:spcAft>
              <a:buNone/>
            </a:pPr>
            <a:r>
              <a:rPr sz="1250" b="0">
                <a:solidFill>
                  <a:srgbClr val="000000"/>
                </a:solidFill>
                <a:latin typeface="Times New Roman"/>
              </a:rPr>
              <a:t>Different prompts created visibly different applications instead of one repeated interface. Provider fallback also kept generation available when a model could not respond.</a:t>
            </a:r>
          </a:p>
        </p:txBody>
      </p:sp>
      <p:sp>
        <p:nvSpPr>
          <p:cNvPr id="5" name="Footer Placeholder 4">
            <a:extLst>
              <a:ext uri="{FF2B5EF4-FFF2-40B4-BE49-F238E27FC236}">
                <a16:creationId xmlns:a16="http://schemas.microsoft.com/office/drawing/2014/main" id="{A4487834-DEF6-FACB-92D2-96A8CFCC7AE5}"/>
              </a:ext>
            </a:extLst>
          </p:cNvPr>
          <p:cNvSpPr>
            <a:spLocks noGrp="1"/>
          </p:cNvSpPr>
          <p:nvPr>
            <p:ph type="ftr" idx="11"/>
          </p:nvPr>
        </p:nvSpPr>
        <p:spPr>
          <a:xfrm>
            <a:off x="457200" y="6492875"/>
            <a:ext cx="8037576" cy="283845"/>
          </a:xfrm>
        </p:spPr>
        <p:txBody>
          <a:bodyPr/>
          <a:lstStyle/>
          <a:p>
            <a:r>
              <a:rPr lang="en-US" smtClean="0"/>
              <a:t>Dept. of CSE,BMSIT&amp;M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09715EE9-9EC8-D6D1-7398-7FB1E6CB3F5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9</a:t>
            </a:fld>
            <a:endParaRPr lang="en-IN"/>
          </a:p>
        </p:txBody>
      </p:sp>
      <p:pic>
        <p:nvPicPr>
          <p:cNvPr id="166" name="Picture 165" descr="generated-project-preview.png"/>
          <p:cNvPicPr>
            <a:picLocks noChangeAspect="1"/>
          </p:cNvPicPr>
          <p:nvPr/>
        </p:nvPicPr>
        <p:blipFill>
          <a:blip r:embed="rId3"/>
          <a:srcRect t="2097" b="2097"/>
          <a:stretch>
            <a:fillRect/>
          </a:stretch>
        </p:blipFill>
        <p:spPr>
          <a:xfrm>
            <a:off x="3730752" y="1536192"/>
            <a:ext cx="2267712" cy="1508760"/>
          </a:xfrm>
          <a:prstGeom prst="rect">
            <a:avLst/>
          </a:prstGeom>
        </p:spPr>
      </p:pic>
      <p:sp>
        <p:nvSpPr>
          <p:cNvPr id="167" name="TextBox 166"/>
          <p:cNvSpPr txBox="1"/>
          <p:nvPr/>
        </p:nvSpPr>
        <p:spPr>
          <a:xfrm>
            <a:off x="3730752" y="3072384"/>
            <a:ext cx="2267712" cy="228600"/>
          </a:xfrm>
          <a:prstGeom prst="rect">
            <a:avLst/>
          </a:prstGeom>
          <a:noFill/>
        </p:spPr>
        <p:txBody>
          <a:bodyPr wrap="square" lIns="0" rIns="0" tIns="0" bIns="0" anchor="t">
            <a:spAutoFit/>
          </a:bodyPr>
          <a:lstStyle/>
          <a:p>
            <a:pPr algn="ctr"/>
            <a:r>
              <a:rPr sz="1000" i="1">
                <a:solidFill>
                  <a:srgbClr val="444444"/>
                </a:solidFill>
                <a:latin typeface="Times New Roman"/>
              </a:rPr>
              <a:t>Inventory system</a:t>
            </a:r>
          </a:p>
        </p:txBody>
      </p:sp>
      <p:pic>
        <p:nvPicPr>
          <p:cNvPr id="168" name="Picture 167" descr="generated-aura-cream-preview.png"/>
          <p:cNvPicPr>
            <a:picLocks noChangeAspect="1"/>
          </p:cNvPicPr>
          <p:nvPr/>
        </p:nvPicPr>
        <p:blipFill>
          <a:blip r:embed="rId4"/>
          <a:srcRect t="2097" b="2097"/>
          <a:stretch>
            <a:fillRect/>
          </a:stretch>
        </p:blipFill>
        <p:spPr>
          <a:xfrm>
            <a:off x="6236208" y="1536192"/>
            <a:ext cx="2267712" cy="1508760"/>
          </a:xfrm>
          <a:prstGeom prst="rect">
            <a:avLst/>
          </a:prstGeom>
        </p:spPr>
      </p:pic>
      <p:sp>
        <p:nvSpPr>
          <p:cNvPr id="169" name="TextBox 168"/>
          <p:cNvSpPr txBox="1"/>
          <p:nvPr/>
        </p:nvSpPr>
        <p:spPr>
          <a:xfrm>
            <a:off x="6236208" y="3072384"/>
            <a:ext cx="2267712" cy="228600"/>
          </a:xfrm>
          <a:prstGeom prst="rect">
            <a:avLst/>
          </a:prstGeom>
          <a:noFill/>
        </p:spPr>
        <p:txBody>
          <a:bodyPr wrap="square" lIns="0" rIns="0" tIns="0" bIns="0" anchor="t">
            <a:spAutoFit/>
          </a:bodyPr>
          <a:lstStyle/>
          <a:p>
            <a:pPr algn="ctr"/>
            <a:r>
              <a:rPr sz="1000" i="1">
                <a:solidFill>
                  <a:srgbClr val="444444"/>
                </a:solidFill>
                <a:latin typeface="Times New Roman"/>
              </a:rPr>
              <a:t>Client portal</a:t>
            </a:r>
          </a:p>
        </p:txBody>
      </p:sp>
      <p:pic>
        <p:nvPicPr>
          <p:cNvPr id="170" name="Picture 169" descr="generated-ecommerce-preview.png"/>
          <p:cNvPicPr>
            <a:picLocks noChangeAspect="1"/>
          </p:cNvPicPr>
          <p:nvPr/>
        </p:nvPicPr>
        <p:blipFill>
          <a:blip r:embed="rId5"/>
          <a:srcRect t="2097" b="2097"/>
          <a:stretch>
            <a:fillRect/>
          </a:stretch>
        </p:blipFill>
        <p:spPr>
          <a:xfrm>
            <a:off x="3730752" y="3456432"/>
            <a:ext cx="2267712" cy="1508760"/>
          </a:xfrm>
          <a:prstGeom prst="rect">
            <a:avLst/>
          </a:prstGeom>
        </p:spPr>
      </p:pic>
      <p:sp>
        <p:nvSpPr>
          <p:cNvPr id="171" name="TextBox 170"/>
          <p:cNvSpPr txBox="1"/>
          <p:nvPr/>
        </p:nvSpPr>
        <p:spPr>
          <a:xfrm>
            <a:off x="3730752" y="4992624"/>
            <a:ext cx="2267712" cy="228600"/>
          </a:xfrm>
          <a:prstGeom prst="rect">
            <a:avLst/>
          </a:prstGeom>
          <a:noFill/>
        </p:spPr>
        <p:txBody>
          <a:bodyPr wrap="square" lIns="0" rIns="0" tIns="0" bIns="0" anchor="t">
            <a:spAutoFit/>
          </a:bodyPr>
          <a:lstStyle/>
          <a:p>
            <a:pPr algn="ctr"/>
            <a:r>
              <a:rPr sz="1000" i="1">
                <a:solidFill>
                  <a:srgbClr val="444444"/>
                </a:solidFill>
                <a:latin typeface="Times New Roman"/>
              </a:rPr>
              <a:t>E-commerce platform</a:t>
            </a:r>
          </a:p>
        </p:txBody>
      </p:sp>
      <p:pic>
        <p:nvPicPr>
          <p:cNvPr id="172" name="Picture 171" descr="generated-restaurant-preview.png"/>
          <p:cNvPicPr>
            <a:picLocks noChangeAspect="1"/>
          </p:cNvPicPr>
          <p:nvPr/>
        </p:nvPicPr>
        <p:blipFill>
          <a:blip r:embed="rId6"/>
          <a:srcRect t="2097" b="2097"/>
          <a:stretch>
            <a:fillRect/>
          </a:stretch>
        </p:blipFill>
        <p:spPr>
          <a:xfrm>
            <a:off x="6236208" y="3456432"/>
            <a:ext cx="2267712" cy="1508760"/>
          </a:xfrm>
          <a:prstGeom prst="rect">
            <a:avLst/>
          </a:prstGeom>
        </p:spPr>
      </p:pic>
      <p:sp>
        <p:nvSpPr>
          <p:cNvPr id="173" name="TextBox 172"/>
          <p:cNvSpPr txBox="1"/>
          <p:nvPr/>
        </p:nvSpPr>
        <p:spPr>
          <a:xfrm>
            <a:off x="6236208" y="4992624"/>
            <a:ext cx="2267712" cy="228600"/>
          </a:xfrm>
          <a:prstGeom prst="rect">
            <a:avLst/>
          </a:prstGeom>
          <a:noFill/>
        </p:spPr>
        <p:txBody>
          <a:bodyPr wrap="square" lIns="0" rIns="0" tIns="0" bIns="0" anchor="t">
            <a:spAutoFit/>
          </a:bodyPr>
          <a:lstStyle/>
          <a:p>
            <a:pPr algn="ctr"/>
            <a:r>
              <a:rPr sz="1000" i="1">
                <a:solidFill>
                  <a:srgbClr val="444444"/>
                </a:solidFill>
                <a:latin typeface="Times New Roman"/>
              </a:rPr>
              <a:t>Restaurant booking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57593-4059-4EFD-2BB0-FF813EA89E79}"/>
              </a:ext>
            </a:extLst>
          </p:cNvPr>
          <p:cNvSpPr>
            <a:spLocks noGrp="1"/>
          </p:cNvSpPr>
          <p:nvPr>
            <p:ph type="title"/>
          </p:nvPr>
        </p:nvSpPr>
        <p:spPr>
          <a:xfrm>
            <a:off x="457200" y="152718"/>
            <a:ext cx="8486078" cy="1419604"/>
          </a:xfrm>
        </p:spPr>
        <p:txBody>
          <a:bodyPr>
            <a:normAutofit/>
          </a:bodyPr>
          <a:lstStyle/>
          <a:p>
            <a:r>
              <a:rPr lang="en-IN" b="1" i="0" dirty="0">
                <a:solidFill>
                  <a:schemeClr val="bg2"/>
                </a:solidFill>
                <a:effectLst/>
                <a:latin typeface="Times New Roman" panose="02020603050405020304" pitchFamily="18" charset="0"/>
                <a:cs typeface="Times New Roman" panose="02020603050405020304" pitchFamily="18" charset="0"/>
              </a:rPr>
              <a:t>PROJECT STATUS, CONCLUSION</a:t>
            </a:r>
            <a:r>
              <a:rPr lang="en-IN" b="1" i="0" dirty="0">
                <a:solidFill>
                  <a:srgbClr val="000000"/>
                </a:solidFill>
                <a:effectLst/>
                <a:latin typeface="Times New Roman" panose="02020603050405020304" pitchFamily="18" charset="0"/>
                <a:cs typeface="Times New Roman" panose="02020603050405020304" pitchFamily="18" charset="0"/>
              </a:rPr>
              <a:t/>
            </a:r>
            <a:br>
              <a:rPr lang="en-IN" b="1" i="0" dirty="0">
                <a:solidFill>
                  <a:srgbClr val="000000"/>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153547C-4A7F-1527-C4E9-E426561F0F8F}"/>
              </a:ext>
            </a:extLst>
          </p:cNvPr>
          <p:cNvSpPr>
            <a:spLocks noGrp="1"/>
          </p:cNvSpPr>
          <p:nvPr>
            <p:ph type="body" idx="1"/>
          </p:nvPr>
        </p:nvSpPr>
        <p:spPr>
          <a:xfrm>
            <a:off x="457200" y="1059366"/>
            <a:ext cx="7620000" cy="5066797"/>
          </a:xfrm>
        </p:spPr>
        <p:txBody>
          <a:bodyPr lIns="0" rIns="0" tIns="0" bIns="0" anchor="t" wrap="square">
            <a:normAutofit/>
          </a:bodyPr>
          <a:lstStyle/>
          <a:p>
            <a:pPr algn="l"/>
            <a:endParaRPr lang="en-IN" b="0" i="0" dirty="0">
              <a:solidFill>
                <a:srgbClr val="000000"/>
              </a:solidFill>
              <a:effectLst/>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E20F00D8-5DAB-3041-83E8-E5C536AA4A0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10</a:t>
            </a:fld>
            <a:endParaRPr lang="en-IN"/>
          </a:p>
        </p:txBody>
      </p:sp>
      <p:sp>
        <p:nvSpPr>
          <p:cNvPr id="7" name="Footer Placeholder 6">
            <a:extLst>
              <a:ext uri="{FF2B5EF4-FFF2-40B4-BE49-F238E27FC236}">
                <a16:creationId xmlns:a16="http://schemas.microsoft.com/office/drawing/2014/main" id="{1AF726E8-5086-0729-9262-62B17A327BBE}"/>
              </a:ext>
            </a:extLst>
          </p:cNvPr>
          <p:cNvSpPr>
            <a:spLocks noGrp="1"/>
          </p:cNvSpPr>
          <p:nvPr>
            <p:ph type="ftr" idx="11"/>
          </p:nvPr>
        </p:nvSpPr>
        <p:spPr>
          <a:xfrm>
            <a:off x="457200" y="6492875"/>
            <a:ext cx="8028432" cy="283845"/>
          </a:xfrm>
        </p:spPr>
        <p:txBody>
          <a:bodyPr/>
          <a:lstStyle/>
          <a:p>
            <a:r>
              <a:rPr lang="en-US" smtClean="0"/>
              <a:t>Dept. of CSE,BMSIT&amp;M                       7th Semester, MAJOR PROJECT PHASE-2 (BCS705) REVIEW ‘1                             AY : 2026-27 </a:t>
            </a:r>
            <a:endParaRPr lang="en-IN" dirty="0"/>
          </a:p>
        </p:txBody>
      </p:sp>
      <p:sp>
        <p:nvSpPr>
          <p:cNvPr id="8" name="Rounded Rectangle 7"/>
          <p:cNvSpPr/>
          <p:nvPr/>
        </p:nvSpPr>
        <p:spPr>
          <a:xfrm>
            <a:off x="502920" y="1417320"/>
            <a:ext cx="4892040" cy="3794760"/>
          </a:xfrm>
          <a:prstGeom prst="roundRect">
            <a:avLst/>
          </a:prstGeom>
          <a:solidFill>
            <a:srgbClr val="F7F7F7"/>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t" lIns="164592" rIns="164592" tIns="164592" bIns="164592" wrap="square"/>
          <a:lstStyle/>
          <a:p>
            <a:pPr algn="ctr">
              <a:spcAft>
                <a:spcPts val="700"/>
              </a:spcAft>
              <a:buNone/>
            </a:pPr>
            <a:r>
              <a:rPr sz="1600" b="1">
                <a:solidFill>
                  <a:srgbClr val="000000"/>
                </a:solidFill>
                <a:latin typeface="Times New Roman"/>
              </a:rPr>
              <a:t>Completed</a:t>
            </a:r>
          </a:p>
          <a:p>
            <a:pPr>
              <a:lnSpc>
                <a:spcPct val="100000"/>
              </a:lnSpc>
              <a:spcAft>
                <a:spcPts val="500"/>
              </a:spcAft>
              <a:buNone/>
            </a:pPr>
            <a:r>
              <a:rPr sz="1180">
                <a:solidFill>
                  <a:srgbClr val="444444"/>
                </a:solidFill>
                <a:latin typeface="Times New Roman"/>
              </a:rPr>
              <a:t>• Architecture-first workflow with a mandatory approval gate.</a:t>
            </a:r>
          </a:p>
          <a:p>
            <a:pPr>
              <a:lnSpc>
                <a:spcPct val="100000"/>
              </a:lnSpc>
              <a:spcAft>
                <a:spcPts val="500"/>
              </a:spcAft>
              <a:buNone/>
            </a:pPr>
            <a:r>
              <a:rPr sz="1180">
                <a:solidFill>
                  <a:srgbClr val="444444"/>
                </a:solidFill>
                <a:latin typeface="Times New Roman"/>
              </a:rPr>
              <a:t>• Prompt-specific frontend, backend and controlled AI fallback.</a:t>
            </a:r>
          </a:p>
          <a:p>
            <a:pPr>
              <a:lnSpc>
                <a:spcPct val="100000"/>
              </a:lnSpc>
              <a:spcAft>
                <a:spcPts val="500"/>
              </a:spcAft>
              <a:buNone/>
            </a:pPr>
            <a:r>
              <a:rPr sz="1180">
                <a:solidFill>
                  <a:srgbClr val="444444"/>
                </a:solidFill>
                <a:latin typeface="Times New Roman"/>
              </a:rPr>
              <a:t>• Files, preview, history, versions, restore, delete and export.</a:t>
            </a:r>
          </a:p>
          <a:p>
            <a:pPr>
              <a:lnSpc>
                <a:spcPct val="100000"/>
              </a:lnSpc>
              <a:spcAft>
                <a:spcPts val="500"/>
              </a:spcAft>
              <a:buNone/>
            </a:pPr>
            <a:r>
              <a:rPr sz="1180">
                <a:solidFill>
                  <a:srgbClr val="444444"/>
                </a:solidFill>
                <a:latin typeface="Times New Roman"/>
              </a:rPr>
              <a:t>• Browser, API and workflow checks for reliable generation.</a:t>
            </a:r>
          </a:p>
        </p:txBody>
      </p:sp>
      <p:sp>
        <p:nvSpPr>
          <p:cNvPr id="9" name="Rounded Rectangle 8"/>
          <p:cNvSpPr/>
          <p:nvPr/>
        </p:nvSpPr>
        <p:spPr>
          <a:xfrm>
            <a:off x="5623560" y="1417320"/>
            <a:ext cx="3017520" cy="1719072"/>
          </a:xfrm>
          <a:prstGeom prst="roundRect">
            <a:avLst/>
          </a:prstGeom>
          <a:solidFill>
            <a:srgbClr val="FCEEEF"/>
          </a:solidFill>
          <a:ln w="12700">
            <a:solidFill>
              <a:srgbClr val="D6262B"/>
            </a:solidFill>
          </a:ln>
        </p:spPr>
        <p:style>
          <a:lnRef idx="1">
            <a:schemeClr val="accent1"/>
          </a:lnRef>
          <a:fillRef idx="3">
            <a:schemeClr val="accent1"/>
          </a:fillRef>
          <a:effectRef idx="2">
            <a:schemeClr val="accent1"/>
          </a:effectRef>
          <a:fontRef idx="minor">
            <a:schemeClr val="lt1"/>
          </a:fontRef>
        </p:style>
        <p:txBody>
          <a:bodyPr rtlCol="0" anchor="t" lIns="164592" rIns="164592" tIns="164592" bIns="164592" wrap="square"/>
          <a:lstStyle/>
          <a:p>
            <a:pPr algn="ctr">
              <a:spcAft>
                <a:spcPts val="700"/>
              </a:spcAft>
              <a:buNone/>
            </a:pPr>
            <a:r>
              <a:rPr sz="1600" b="1">
                <a:solidFill>
                  <a:srgbClr val="D6262B"/>
                </a:solidFill>
                <a:latin typeface="Times New Roman"/>
              </a:rPr>
              <a:t>In Progress</a:t>
            </a:r>
          </a:p>
          <a:p>
            <a:pPr>
              <a:lnSpc>
                <a:spcPct val="100000"/>
              </a:lnSpc>
              <a:spcAft>
                <a:spcPts val="500"/>
              </a:spcAft>
              <a:buNone/>
            </a:pPr>
            <a:r>
              <a:rPr sz="1180">
                <a:solidFill>
                  <a:srgbClr val="444444"/>
                </a:solidFill>
                <a:latin typeface="Times New Roman"/>
              </a:rPr>
              <a:t>• Integrating an OpenAI API key and a stronger code-generation model for more complex projects.</a:t>
            </a:r>
          </a:p>
        </p:txBody>
      </p:sp>
      <p:sp>
        <p:nvSpPr>
          <p:cNvPr id="10" name="Rounded Rectangle 9"/>
          <p:cNvSpPr/>
          <p:nvPr/>
        </p:nvSpPr>
        <p:spPr>
          <a:xfrm>
            <a:off x="5623560" y="3355848"/>
            <a:ext cx="3017520" cy="1856231"/>
          </a:xfrm>
          <a:prstGeom prst="roundRect">
            <a:avLst/>
          </a:prstGeom>
          <a:solidFill>
            <a:srgbClr val="F7F7F7"/>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t" lIns="164592" rIns="164592" tIns="164592" bIns="164592" wrap="square"/>
          <a:lstStyle/>
          <a:p>
            <a:pPr algn="ctr">
              <a:spcAft>
                <a:spcPts val="700"/>
              </a:spcAft>
              <a:buNone/>
            </a:pPr>
            <a:r>
              <a:rPr sz="1600" b="1">
                <a:solidFill>
                  <a:srgbClr val="000000"/>
                </a:solidFill>
                <a:latin typeface="Times New Roman"/>
              </a:rPr>
              <a:t>Next Phase</a:t>
            </a:r>
          </a:p>
          <a:p>
            <a:pPr>
              <a:lnSpc>
                <a:spcPct val="100000"/>
              </a:lnSpc>
              <a:spcAft>
                <a:spcPts val="500"/>
              </a:spcAft>
              <a:buNone/>
            </a:pPr>
            <a:r>
              <a:rPr sz="1180">
                <a:solidFill>
                  <a:srgbClr val="444444"/>
                </a:solidFill>
                <a:latin typeface="Times New Roman"/>
              </a:rPr>
              <a:t>• Hosted deployment, external Git synchronization and production database adapters.</a:t>
            </a:r>
          </a:p>
        </p:txBody>
      </p:sp>
      <p:sp>
        <p:nvSpPr>
          <p:cNvPr id="11" name="Rounded Rectangle 10"/>
          <p:cNvSpPr/>
          <p:nvPr/>
        </p:nvSpPr>
        <p:spPr>
          <a:xfrm>
            <a:off x="502920" y="5449824"/>
            <a:ext cx="8138160" cy="585216"/>
          </a:xfrm>
          <a:prstGeom prst="roundRect">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buNone/>
            </a:pPr>
            <a:r>
              <a:rPr sz="1400" b="1">
                <a:solidFill>
                  <a:srgbClr val="FFFFFF"/>
                </a:solidFill>
                <a:latin typeface="Times New Roman"/>
              </a:rPr>
              <a:t>ForgeWeb turns a product idea into a working, reviewable full-stack project.</a:t>
            </a:r>
          </a:p>
        </p:txBody>
      </p:sp>
    </p:spTree>
    <p:extLst>
      <p:ext uri="{BB962C8B-B14F-4D97-AF65-F5344CB8AC3E}">
        <p14:creationId xmlns:p14="http://schemas.microsoft.com/office/powerpoint/2010/main" val="136098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a64a40ef39_0_0"/>
          <p:cNvSpPr txBox="1">
            <a:spLocks noGrp="1"/>
          </p:cNvSpPr>
          <p:nvPr>
            <p:ph type="title"/>
          </p:nvPr>
        </p:nvSpPr>
        <p:spPr>
          <a:xfrm>
            <a:off x="457200" y="152725"/>
            <a:ext cx="7620000" cy="1371600"/>
          </a:xfrm>
          <a:prstGeom prst="rect">
            <a:avLst/>
          </a:prstGeom>
        </p:spPr>
        <p:txBody>
          <a:bodyPr spcFirstLastPara="1" wrap="square" lIns="0" tIns="0" rIns="0" bIns="0" anchor="ctr" anchorCtr="0">
            <a:normAutofit/>
          </a:bodyPr>
          <a:lstStyle/>
          <a:p>
            <a:pPr marL="0" lvl="0" indent="0" algn="l" rtl="0">
              <a:buNone/>
              <a:spcBef>
                <a:spcPts val="0"/>
              </a:spcBef>
              <a:spcAft>
                <a:spcPts val="0"/>
              </a:spcAft>
            </a:pPr>
            <a:r>
              <a:rPr sz="2700" b="0">
                <a:solidFill>
                  <a:srgbClr val="D6262B"/>
                </a:solidFill>
                <a:latin typeface="Times New Roman"/>
              </a:rPr>
              <a:t>PUBLICATIONS &amp; REFERENCES</a:t>
            </a:r>
            <a:endParaRPr dirty="0">
              <a:latin typeface="Times New Roman" panose="02020603050405020304" pitchFamily="18" charset="0"/>
              <a:cs typeface="Times New Roman" panose="02020603050405020304" pitchFamily="18" charset="0"/>
            </a:endParaRPr>
          </a:p>
        </p:txBody>
      </p:sp>
      <p:sp>
        <p:nvSpPr>
          <p:cNvPr id="193" name="Google Shape;193;g3a64a40ef39_0_0"/>
          <p:cNvSpPr txBox="1">
            <a:spLocks noGrp="1"/>
          </p:cNvSpPr>
          <p:nvPr>
            <p:ph type="body" idx="1"/>
          </p:nvPr>
        </p:nvSpPr>
        <p:spPr>
          <a:xfrm>
            <a:off x="457200" y="1752600"/>
            <a:ext cx="8257032" cy="4373700"/>
          </a:xfrm>
          <a:prstGeom prst="rect">
            <a:avLst/>
          </a:prstGeom>
        </p:spPr>
        <p:txBody>
          <a:bodyPr spcFirstLastPara="1" wrap="square" lIns="36576" tIns="36576" rIns="36576" bIns="36576" anchor="t" anchorCtr="0">
            <a:normAutofit/>
          </a:bodyPr>
          <a:lstStyle/>
          <a:p>
            <a:pPr marL="228600" lvl="0" indent="0" algn="l" rtl="0">
              <a:buNone/>
              <a:lnSpc>
                <a:spcPct val="100000"/>
              </a:lnSpc>
              <a:spcBef>
                <a:spcPts val="360"/>
              </a:spcBef>
              <a:spcAft>
                <a:spcPts val="400"/>
              </a:spcAft>
              <a:buClr>
                <a:schemeClr val="dk1"/>
              </a:buClr>
              <a:buSzPct val="90000"/>
              <a:buFont typeface="Arial"/>
            </a:pPr>
            <a:r>
              <a:rPr sz="1700" b="1">
                <a:solidFill>
                  <a:srgbClr val="000000"/>
                </a:solidFill>
                <a:latin typeface="Times New Roman"/>
              </a:rPr>
              <a:t>Publication status</a:t>
            </a:r>
            <a:endParaRPr sz="1800" b="0" dirty="0">
              <a:latin typeface="Times New Roman" panose="02020603050405020304" pitchFamily="18" charset="0"/>
              <a:cs typeface="Times New Roman" panose="02020603050405020304" pitchFamily="18" charset="0"/>
            </a:endParaRPr>
          </a:p>
          <a:p>
            <a:pPr algn="l">
              <a:lnSpc>
                <a:spcPct val="100000"/>
              </a:lnSpc>
              <a:spcAft>
                <a:spcPts val="400"/>
              </a:spcAft>
              <a:buNone/>
            </a:pPr>
            <a:r>
              <a:rPr sz="1500" b="0">
                <a:solidFill>
                  <a:srgbClr val="000000"/>
                </a:solidFill>
                <a:latin typeface="Times New Roman"/>
              </a:rPr>
              <a:t>• Paper draft in preparation: ‘ForgeWeb: Architecture-First Prompt-to-Full-Stack Generation with Traceability.’</a:t>
            </a:r>
          </a:p>
          <a:p>
            <a:pPr algn="l">
              <a:lnSpc>
                <a:spcPct val="100000"/>
              </a:lnSpc>
              <a:spcAft>
                <a:spcPts val="700"/>
              </a:spcAft>
              <a:buNone/>
            </a:pPr>
            <a:r>
              <a:rPr sz="1500" b="0">
                <a:solidFill>
                  <a:srgbClr val="000000"/>
                </a:solidFill>
                <a:latin typeface="Times New Roman"/>
              </a:rPr>
              <a:t>• Target venue will be selected after the complete Phase-2 evaluation; the paper has not yet been submitted.</a:t>
            </a:r>
          </a:p>
          <a:p>
            <a:pPr algn="l">
              <a:lnSpc>
                <a:spcPct val="100000"/>
              </a:lnSpc>
              <a:spcAft>
                <a:spcPts val="400"/>
              </a:spcAft>
              <a:buNone/>
            </a:pPr>
            <a:r>
              <a:rPr sz="1700" b="1">
                <a:solidFill>
                  <a:srgbClr val="000000"/>
                </a:solidFill>
                <a:latin typeface="Times New Roman"/>
              </a:rPr>
              <a:t>References (IEEE format)</a:t>
            </a:r>
          </a:p>
          <a:p>
            <a:pPr algn="l">
              <a:lnSpc>
                <a:spcPct val="100000"/>
              </a:lnSpc>
              <a:spcAft>
                <a:spcPts val="300"/>
              </a:spcAft>
              <a:buNone/>
            </a:pPr>
            <a:r>
              <a:rPr sz="1250" b="0">
                <a:solidFill>
                  <a:srgbClr val="000000"/>
                </a:solidFill>
                <a:latin typeface="Times New Roman"/>
              </a:rPr>
              <a:t>[1] T. Thuy and contributors, ‘Code Review Graph,’ GitHub repository, 2025. [Online]. Available: https://github.com/tirth8205/code-review-graph</a:t>
            </a:r>
          </a:p>
          <a:p>
            <a:pPr algn="l">
              <a:lnSpc>
                <a:spcPct val="100000"/>
              </a:lnSpc>
              <a:spcAft>
                <a:spcPts val="300"/>
              </a:spcAft>
              <a:buNone/>
            </a:pPr>
            <a:r>
              <a:rPr sz="1250" b="0">
                <a:solidFill>
                  <a:srgbClr val="000000"/>
                </a:solidFill>
                <a:latin typeface="Times New Roman"/>
              </a:rPr>
              <a:t>[2] G. Tan, ‘gstack,’ GitHub repository, 2026. [Online]. Available: https://github.com/garrytan/gstack</a:t>
            </a:r>
          </a:p>
          <a:p>
            <a:pPr algn="l">
              <a:lnSpc>
                <a:spcPct val="100000"/>
              </a:lnSpc>
              <a:spcAft>
                <a:spcPts val="300"/>
              </a:spcAft>
              <a:buNone/>
            </a:pPr>
            <a:r>
              <a:rPr sz="1250" b="0">
                <a:solidFill>
                  <a:srgbClr val="000000"/>
                </a:solidFill>
                <a:latin typeface="Times New Roman"/>
              </a:rPr>
              <a:t>[3] multica-ai, ‘andrej-karpathy-skills,’ GitHub repository, 2026. [Online]. Available: https://github.com/multica-ai/andrej-karpathy-skills</a:t>
            </a:r>
          </a:p>
          <a:p>
            <a:pPr algn="l">
              <a:lnSpc>
                <a:spcPct val="100000"/>
              </a:lnSpc>
              <a:spcAft>
                <a:spcPts val="300"/>
              </a:spcAft>
              <a:buNone/>
            </a:pPr>
            <a:r>
              <a:rPr sz="1250" b="0">
                <a:solidFill>
                  <a:srgbClr val="000000"/>
                </a:solidFill>
                <a:latin typeface="Times New Roman"/>
              </a:rPr>
              <a:t>[4] Meta Platforms, Inc., ‘React Documentation,’ 2026. [Online]. Available: https://react.dev</a:t>
            </a:r>
          </a:p>
          <a:p>
            <a:pPr algn="l">
              <a:lnSpc>
                <a:spcPct val="100000"/>
              </a:lnSpc>
              <a:spcAft>
                <a:spcPts val="300"/>
              </a:spcAft>
              <a:buNone/>
            </a:pPr>
            <a:r>
              <a:rPr sz="1250" b="0">
                <a:solidFill>
                  <a:srgbClr val="000000"/>
                </a:solidFill>
                <a:latin typeface="Times New Roman"/>
              </a:rPr>
              <a:t>[5] S. Ramírez, ‘FastAPI Documentation,’ 2026. [Online]. Available: https://fastapi.tiangolo.com</a:t>
            </a:r>
          </a:p>
          <a:p>
            <a:pPr algn="l">
              <a:lnSpc>
                <a:spcPct val="100000"/>
              </a:lnSpc>
              <a:spcAft>
                <a:spcPts val="300"/>
              </a:spcAft>
              <a:buNone/>
            </a:pPr>
            <a:r>
              <a:rPr sz="1250" b="0">
                <a:solidFill>
                  <a:srgbClr val="000000"/>
                </a:solidFill>
                <a:latin typeface="Times New Roman"/>
              </a:rPr>
              <a:t>[6] Google, ‘Gemini API Documentation,’ 2026. [Online]. Available: https://ai.google.dev</a:t>
            </a:r>
          </a:p>
        </p:txBody>
      </p:sp>
      <p:sp>
        <p:nvSpPr>
          <p:cNvPr id="5" name="Footer Placeholder 4">
            <a:extLst>
              <a:ext uri="{FF2B5EF4-FFF2-40B4-BE49-F238E27FC236}">
                <a16:creationId xmlns:a16="http://schemas.microsoft.com/office/drawing/2014/main" id="{8F7E51F1-3898-D2F1-E130-E335DF49869E}"/>
              </a:ext>
            </a:extLst>
          </p:cNvPr>
          <p:cNvSpPr>
            <a:spLocks noGrp="1"/>
          </p:cNvSpPr>
          <p:nvPr>
            <p:ph type="ftr" idx="11"/>
          </p:nvPr>
        </p:nvSpPr>
        <p:spPr>
          <a:xfrm>
            <a:off x="457200" y="6492875"/>
            <a:ext cx="8037575" cy="283845"/>
          </a:xfrm>
        </p:spPr>
        <p:txBody>
          <a:bodyPr/>
          <a:lstStyle/>
          <a:p>
            <a:r>
              <a:rPr lang="en-US" smtClean="0"/>
              <a:t>Dept. of CSE,BMSIT&amp;M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D4FBF170-66C7-99AD-5F18-88CCB6F91C6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11</a:t>
            </a:fld>
            <a:endParaRPr lang="en-IN"/>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rIns="0" tIns="0" bIns="0" anchor="ctr" wrap="square"/>
          <a:lstStyle/>
          <a:p>
            <a:pPr algn="l">
              <a:buNone/>
            </a:pPr>
            <a:r>
              <a:rPr sz="3200" b="0">
                <a:solidFill>
                  <a:srgbClr val="D6262B"/>
                </a:solidFill>
                <a:latin typeface="Times New Roman"/>
              </a:rPr>
              <a:t>SYSTEM ARCHITECTURE</a:t>
            </a:r>
          </a:p>
        </p:txBody>
      </p:sp>
      <p:sp>
        <p:nvSpPr>
          <p:cNvPr id="3" name="Text Placeholder 2"/>
          <p:cNvSpPr>
            <a:spLocks noGrp="1"/>
          </p:cNvSpPr>
          <p:nvPr>
            <p:ph type="body" idx="1"/>
          </p:nvPr>
        </p:nvSpPr>
        <p:spPr/>
        <p:txBody>
          <a:bodyPr/>
          <a:lstStyle/>
          <a:p/>
        </p:txBody>
      </p:sp>
      <p:sp>
        <p:nvSpPr>
          <p:cNvPr id="6" name="Rounded Rectangle 5"/>
          <p:cNvSpPr/>
          <p:nvPr/>
        </p:nvSpPr>
        <p:spPr>
          <a:xfrm>
            <a:off x="411480" y="1371600"/>
            <a:ext cx="8302752" cy="713232"/>
          </a:xfrm>
          <a:prstGeom prst="roundRect">
            <a:avLst/>
          </a:prstGeom>
          <a:solidFill>
            <a:srgbClr val="F7F7F7"/>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44752"/>
            <a:ext cx="1051560" cy="566928"/>
          </a:xfrm>
          <a:prstGeom prst="rect">
            <a:avLst/>
          </a:prstGeom>
          <a:noFill/>
        </p:spPr>
        <p:txBody>
          <a:bodyPr wrap="square" lIns="0" rIns="0" tIns="0" bIns="0" anchor="ctr">
            <a:spAutoFit/>
          </a:bodyPr>
          <a:lstStyle/>
          <a:p>
            <a:pPr algn="ctr">
              <a:buNone/>
            </a:pPr>
            <a:r>
              <a:rPr sz="1050" b="1">
                <a:solidFill>
                  <a:srgbClr val="D6262B"/>
                </a:solidFill>
                <a:latin typeface="Times New Roman"/>
              </a:rPr>
              <a:t>USER LAYER</a:t>
            </a:r>
          </a:p>
        </p:txBody>
      </p:sp>
      <p:sp>
        <p:nvSpPr>
          <p:cNvPr id="8" name="Rounded Rectangle 7"/>
          <p:cNvSpPr/>
          <p:nvPr/>
        </p:nvSpPr>
        <p:spPr>
          <a:xfrm>
            <a:off x="1755648" y="1472184"/>
            <a:ext cx="3314700" cy="512064"/>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00" b="1">
                <a:solidFill>
                  <a:srgbClr val="000000"/>
                </a:solidFill>
                <a:latin typeface="Times New Roman"/>
              </a:rPr>
              <a:t>User Prompt</a:t>
            </a:r>
          </a:p>
          <a:p>
            <a:pPr algn="ctr">
              <a:spcBef>
                <a:spcPts val="100"/>
              </a:spcBef>
              <a:buNone/>
            </a:pPr>
            <a:r>
              <a:rPr sz="950">
                <a:solidFill>
                  <a:srgbClr val="444444"/>
                </a:solidFill>
                <a:latin typeface="Times New Roman"/>
              </a:rPr>
              <a:t>Product idea and visual needs</a:t>
            </a:r>
          </a:p>
        </p:txBody>
      </p:sp>
      <p:sp>
        <p:nvSpPr>
          <p:cNvPr id="9" name="Rounded Rectangle 8"/>
          <p:cNvSpPr/>
          <p:nvPr/>
        </p:nvSpPr>
        <p:spPr>
          <a:xfrm>
            <a:off x="5189220" y="1472184"/>
            <a:ext cx="3314700" cy="512064"/>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00" b="1">
                <a:solidFill>
                  <a:srgbClr val="000000"/>
                </a:solidFill>
                <a:latin typeface="Times New Roman"/>
              </a:rPr>
              <a:t>ForgeWeb React UI</a:t>
            </a:r>
          </a:p>
          <a:p>
            <a:pPr algn="ctr">
              <a:spcBef>
                <a:spcPts val="100"/>
              </a:spcBef>
              <a:buNone/>
            </a:pPr>
            <a:r>
              <a:rPr sz="950">
                <a:solidFill>
                  <a:srgbClr val="444444"/>
                </a:solidFill>
                <a:latin typeface="Times New Roman"/>
              </a:rPr>
              <a:t>Prompt, approval, files and preview</a:t>
            </a:r>
          </a:p>
        </p:txBody>
      </p:sp>
      <p:sp>
        <p:nvSpPr>
          <p:cNvPr id="10" name="Rounded Rectangle 9"/>
          <p:cNvSpPr/>
          <p:nvPr/>
        </p:nvSpPr>
        <p:spPr>
          <a:xfrm>
            <a:off x="411480" y="2340864"/>
            <a:ext cx="8302752" cy="960120"/>
          </a:xfrm>
          <a:prstGeom prst="roundRect">
            <a:avLst/>
          </a:prstGeom>
          <a:solidFill>
            <a:srgbClr val="F7F7F7"/>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14016"/>
            <a:ext cx="1051560" cy="813816"/>
          </a:xfrm>
          <a:prstGeom prst="rect">
            <a:avLst/>
          </a:prstGeom>
          <a:noFill/>
        </p:spPr>
        <p:txBody>
          <a:bodyPr wrap="square" lIns="0" rIns="0" tIns="0" bIns="0" anchor="ctr">
            <a:spAutoFit/>
          </a:bodyPr>
          <a:lstStyle/>
          <a:p>
            <a:pPr algn="ctr">
              <a:buNone/>
            </a:pPr>
            <a:r>
              <a:rPr sz="1050" b="1">
                <a:solidFill>
                  <a:srgbClr val="D6262B"/>
                </a:solidFill>
                <a:latin typeface="Times New Roman"/>
              </a:rPr>
              <a:t>CONTROL PLANE</a:t>
            </a:r>
          </a:p>
        </p:txBody>
      </p:sp>
      <p:sp>
        <p:nvSpPr>
          <p:cNvPr id="12" name="Rounded Rectangle 11"/>
          <p:cNvSpPr/>
          <p:nvPr/>
        </p:nvSpPr>
        <p:spPr>
          <a:xfrm>
            <a:off x="1755648" y="2441448"/>
            <a:ext cx="1597914" cy="758952"/>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Workflow API</a:t>
            </a:r>
          </a:p>
          <a:p>
            <a:pPr algn="ctr">
              <a:spcBef>
                <a:spcPts val="100"/>
              </a:spcBef>
              <a:buNone/>
            </a:pPr>
            <a:r>
              <a:rPr sz="900">
                <a:solidFill>
                  <a:srgbClr val="444444"/>
                </a:solidFill>
                <a:latin typeface="Times New Roman"/>
              </a:rPr>
              <a:t>State and confirmation gate</a:t>
            </a:r>
          </a:p>
        </p:txBody>
      </p:sp>
      <p:sp>
        <p:nvSpPr>
          <p:cNvPr id="13" name="Rounded Rectangle 12"/>
          <p:cNvSpPr/>
          <p:nvPr/>
        </p:nvSpPr>
        <p:spPr>
          <a:xfrm>
            <a:off x="3472434" y="2441448"/>
            <a:ext cx="1597914" cy="758952"/>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Requirement &amp; Architecture Planner</a:t>
            </a:r>
          </a:p>
          <a:p>
            <a:pPr algn="ctr">
              <a:spcBef>
                <a:spcPts val="100"/>
              </a:spcBef>
              <a:buNone/>
            </a:pPr>
            <a:r>
              <a:rPr sz="900">
                <a:solidFill>
                  <a:srgbClr val="444444"/>
                </a:solidFill>
                <a:latin typeface="Times New Roman"/>
              </a:rPr>
              <a:t>Product intent and ARCHITECTURE.md</a:t>
            </a:r>
          </a:p>
        </p:txBody>
      </p:sp>
      <p:sp>
        <p:nvSpPr>
          <p:cNvPr id="14" name="Rounded Rectangle 13"/>
          <p:cNvSpPr/>
          <p:nvPr/>
        </p:nvSpPr>
        <p:spPr>
          <a:xfrm>
            <a:off x="5189220" y="2441448"/>
            <a:ext cx="1597914" cy="758952"/>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Provider Router</a:t>
            </a:r>
          </a:p>
          <a:p>
            <a:pPr algn="ctr">
              <a:spcBef>
                <a:spcPts val="100"/>
              </a:spcBef>
              <a:buNone/>
            </a:pPr>
            <a:r>
              <a:rPr sz="900">
                <a:solidFill>
                  <a:srgbClr val="444444"/>
                </a:solidFill>
                <a:latin typeface="Times New Roman"/>
              </a:rPr>
              <a:t>Gemini, Groq and OpenRouter</a:t>
            </a:r>
          </a:p>
        </p:txBody>
      </p:sp>
      <p:sp>
        <p:nvSpPr>
          <p:cNvPr id="15" name="Rounded Rectangle 14"/>
          <p:cNvSpPr/>
          <p:nvPr/>
        </p:nvSpPr>
        <p:spPr>
          <a:xfrm>
            <a:off x="6906006" y="2441448"/>
            <a:ext cx="1597914" cy="758952"/>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Project Workspace API</a:t>
            </a:r>
          </a:p>
          <a:p>
            <a:pPr algn="ctr">
              <a:spcBef>
                <a:spcPts val="100"/>
              </a:spcBef>
              <a:buNone/>
            </a:pPr>
            <a:r>
              <a:rPr sz="900">
                <a:solidFill>
                  <a:srgbClr val="444444"/>
                </a:solidFill>
                <a:latin typeface="Times New Roman"/>
              </a:rPr>
              <a:t>Files, history and export</a:t>
            </a:r>
          </a:p>
        </p:txBody>
      </p:sp>
      <p:sp>
        <p:nvSpPr>
          <p:cNvPr id="16" name="Rounded Rectangle 15"/>
          <p:cNvSpPr/>
          <p:nvPr/>
        </p:nvSpPr>
        <p:spPr>
          <a:xfrm>
            <a:off x="411480" y="3602736"/>
            <a:ext cx="8302752" cy="1024128"/>
          </a:xfrm>
          <a:prstGeom prst="roundRect">
            <a:avLst/>
          </a:prstGeom>
          <a:solidFill>
            <a:srgbClr val="F7F7F7"/>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675887"/>
            <a:ext cx="1051560" cy="877824"/>
          </a:xfrm>
          <a:prstGeom prst="rect">
            <a:avLst/>
          </a:prstGeom>
          <a:noFill/>
        </p:spPr>
        <p:txBody>
          <a:bodyPr wrap="square" lIns="0" rIns="0" tIns="0" bIns="0" anchor="ctr">
            <a:spAutoFit/>
          </a:bodyPr>
          <a:lstStyle/>
          <a:p>
            <a:pPr algn="ctr">
              <a:buNone/>
            </a:pPr>
            <a:r>
              <a:rPr sz="1050" b="1">
                <a:solidFill>
                  <a:srgbClr val="D6262B"/>
                </a:solidFill>
                <a:latin typeface="Times New Roman"/>
              </a:rPr>
              <a:t>GENERATION &amp; REVIEW</a:t>
            </a:r>
          </a:p>
        </p:txBody>
      </p:sp>
      <p:sp>
        <p:nvSpPr>
          <p:cNvPr id="18" name="Rounded Rectangle 17"/>
          <p:cNvSpPr/>
          <p:nvPr/>
        </p:nvSpPr>
        <p:spPr>
          <a:xfrm>
            <a:off x="1755648" y="3703320"/>
            <a:ext cx="1597914" cy="822960"/>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Frontend Generator</a:t>
            </a:r>
          </a:p>
          <a:p>
            <a:pPr algn="ctr">
              <a:spcBef>
                <a:spcPts val="100"/>
              </a:spcBef>
              <a:buNone/>
            </a:pPr>
            <a:r>
              <a:rPr sz="900">
                <a:solidFill>
                  <a:srgbClr val="444444"/>
                </a:solidFill>
                <a:latin typeface="Times New Roman"/>
              </a:rPr>
              <a:t>React and TypeScript</a:t>
            </a:r>
          </a:p>
        </p:txBody>
      </p:sp>
      <p:sp>
        <p:nvSpPr>
          <p:cNvPr id="19" name="Rounded Rectangle 18"/>
          <p:cNvSpPr/>
          <p:nvPr/>
        </p:nvSpPr>
        <p:spPr>
          <a:xfrm>
            <a:off x="3472434" y="3703320"/>
            <a:ext cx="1597914" cy="82296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Backend Generator</a:t>
            </a:r>
          </a:p>
          <a:p>
            <a:pPr algn="ctr">
              <a:spcBef>
                <a:spcPts val="100"/>
              </a:spcBef>
              <a:buNone/>
            </a:pPr>
            <a:r>
              <a:rPr sz="900">
                <a:solidFill>
                  <a:srgbClr val="444444"/>
                </a:solidFill>
                <a:latin typeface="Times New Roman"/>
              </a:rPr>
              <a:t>Python API and contracts</a:t>
            </a:r>
          </a:p>
        </p:txBody>
      </p:sp>
      <p:sp>
        <p:nvSpPr>
          <p:cNvPr id="20" name="Rounded Rectangle 19"/>
          <p:cNvSpPr/>
          <p:nvPr/>
        </p:nvSpPr>
        <p:spPr>
          <a:xfrm>
            <a:off x="5189220" y="3703320"/>
            <a:ext cx="1597914" cy="82296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Review &amp; Validation</a:t>
            </a:r>
          </a:p>
          <a:p>
            <a:pPr algn="ctr">
              <a:spcBef>
                <a:spcPts val="100"/>
              </a:spcBef>
              <a:buNone/>
            </a:pPr>
            <a:r>
              <a:rPr sz="900">
                <a:solidFill>
                  <a:srgbClr val="444444"/>
                </a:solidFill>
                <a:latin typeface="Times New Roman"/>
              </a:rPr>
              <a:t>Build and interaction checks</a:t>
            </a:r>
          </a:p>
        </p:txBody>
      </p:sp>
      <p:sp>
        <p:nvSpPr>
          <p:cNvPr id="21" name="Rounded Rectangle 20"/>
          <p:cNvSpPr/>
          <p:nvPr/>
        </p:nvSpPr>
        <p:spPr>
          <a:xfrm>
            <a:off x="6906006" y="3703320"/>
            <a:ext cx="1597914" cy="82296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150" b="1">
                <a:solidFill>
                  <a:srgbClr val="000000"/>
                </a:solidFill>
                <a:latin typeface="Times New Roman"/>
              </a:rPr>
              <a:t>Code Review Graph</a:t>
            </a:r>
          </a:p>
          <a:p>
            <a:pPr algn="ctr">
              <a:spcBef>
                <a:spcPts val="100"/>
              </a:spcBef>
              <a:buNone/>
            </a:pPr>
            <a:r>
              <a:rPr sz="900">
                <a:solidFill>
                  <a:srgbClr val="444444"/>
                </a:solidFill>
                <a:latin typeface="Times New Roman"/>
              </a:rPr>
              <a:t>Requirement-to-file traceability</a:t>
            </a:r>
          </a:p>
        </p:txBody>
      </p:sp>
      <p:sp>
        <p:nvSpPr>
          <p:cNvPr id="22" name="Rounded Rectangle 21"/>
          <p:cNvSpPr/>
          <p:nvPr/>
        </p:nvSpPr>
        <p:spPr>
          <a:xfrm>
            <a:off x="411480" y="4956048"/>
            <a:ext cx="8302752" cy="841248"/>
          </a:xfrm>
          <a:prstGeom prst="roundRect">
            <a:avLst/>
          </a:prstGeom>
          <a:solidFill>
            <a:srgbClr val="F7F7F7"/>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5029200"/>
            <a:ext cx="1051560" cy="694944"/>
          </a:xfrm>
          <a:prstGeom prst="rect">
            <a:avLst/>
          </a:prstGeom>
          <a:noFill/>
        </p:spPr>
        <p:txBody>
          <a:bodyPr wrap="square" lIns="0" rIns="0" tIns="0" bIns="0" anchor="ctr">
            <a:spAutoFit/>
          </a:bodyPr>
          <a:lstStyle/>
          <a:p>
            <a:pPr algn="ctr">
              <a:buNone/>
            </a:pPr>
            <a:r>
              <a:rPr sz="1050" b="1">
                <a:solidFill>
                  <a:srgbClr val="D6262B"/>
                </a:solidFill>
                <a:latin typeface="Times New Roman"/>
              </a:rPr>
              <a:t>PROJECT DATA</a:t>
            </a:r>
          </a:p>
        </p:txBody>
      </p:sp>
      <p:sp>
        <p:nvSpPr>
          <p:cNvPr id="24" name="Rounded Rectangle 23"/>
          <p:cNvSpPr/>
          <p:nvPr/>
        </p:nvSpPr>
        <p:spPr>
          <a:xfrm>
            <a:off x="1755648" y="5056632"/>
            <a:ext cx="2170176" cy="640080"/>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00" b="1">
                <a:solidFill>
                  <a:srgbClr val="000000"/>
                </a:solidFill>
                <a:latin typeface="Times New Roman"/>
              </a:rPr>
              <a:t>Atomic Project Store</a:t>
            </a:r>
          </a:p>
          <a:p>
            <a:pPr algn="ctr">
              <a:spcBef>
                <a:spcPts val="100"/>
              </a:spcBef>
              <a:buNone/>
            </a:pPr>
            <a:r>
              <a:rPr sz="950">
                <a:solidFill>
                  <a:srgbClr val="444444"/>
                </a:solidFill>
                <a:latin typeface="Times New Roman"/>
              </a:rPr>
              <a:t>Build and project state</a:t>
            </a:r>
          </a:p>
        </p:txBody>
      </p:sp>
      <p:sp>
        <p:nvSpPr>
          <p:cNvPr id="25" name="Rounded Rectangle 24"/>
          <p:cNvSpPr/>
          <p:nvPr/>
        </p:nvSpPr>
        <p:spPr>
          <a:xfrm>
            <a:off x="4044696" y="5056632"/>
            <a:ext cx="2170176" cy="64008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00" b="1">
                <a:solidFill>
                  <a:srgbClr val="000000"/>
                </a:solidFill>
                <a:latin typeface="Times New Roman"/>
              </a:rPr>
              <a:t>Generated Source &amp; Preview</a:t>
            </a:r>
          </a:p>
          <a:p>
            <a:pPr algn="ctr">
              <a:spcBef>
                <a:spcPts val="100"/>
              </a:spcBef>
              <a:buNone/>
            </a:pPr>
            <a:r>
              <a:rPr sz="950">
                <a:solidFill>
                  <a:srgbClr val="444444"/>
                </a:solidFill>
                <a:latin typeface="Times New Roman"/>
              </a:rPr>
              <a:t>Frontend, backend and tests</a:t>
            </a:r>
          </a:p>
        </p:txBody>
      </p:sp>
      <p:sp>
        <p:nvSpPr>
          <p:cNvPr id="26" name="Rounded Rectangle 25"/>
          <p:cNvSpPr/>
          <p:nvPr/>
        </p:nvSpPr>
        <p:spPr>
          <a:xfrm>
            <a:off x="6333744" y="5056632"/>
            <a:ext cx="2170176" cy="64008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00" b="1">
                <a:solidFill>
                  <a:srgbClr val="000000"/>
                </a:solidFill>
                <a:latin typeface="Times New Roman"/>
              </a:rPr>
              <a:t>Versions &amp; ZIP Export</a:t>
            </a:r>
          </a:p>
          <a:p>
            <a:pPr algn="ctr">
              <a:spcBef>
                <a:spcPts val="100"/>
              </a:spcBef>
              <a:buNone/>
            </a:pPr>
            <a:r>
              <a:rPr sz="950">
                <a:solidFill>
                  <a:srgbClr val="444444"/>
                </a:solidFill>
                <a:latin typeface="Times New Roman"/>
              </a:rPr>
              <a:t>Restore and delivery</a:t>
            </a:r>
          </a:p>
        </p:txBody>
      </p:sp>
      <p:sp>
        <p:nvSpPr>
          <p:cNvPr id="27" name="Down Arrow 26"/>
          <p:cNvSpPr/>
          <p:nvPr/>
        </p:nvSpPr>
        <p:spPr>
          <a:xfrm>
            <a:off x="4443984" y="2112264"/>
            <a:ext cx="256032" cy="201168"/>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wn Arrow 27"/>
          <p:cNvSpPr/>
          <p:nvPr/>
        </p:nvSpPr>
        <p:spPr>
          <a:xfrm>
            <a:off x="4443984" y="3364992"/>
            <a:ext cx="256032" cy="201168"/>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own Arrow 28"/>
          <p:cNvSpPr/>
          <p:nvPr/>
        </p:nvSpPr>
        <p:spPr>
          <a:xfrm>
            <a:off x="4443984" y="4672584"/>
            <a:ext cx="256032" cy="246888"/>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925312"/>
            <a:ext cx="7315200" cy="274320"/>
          </a:xfrm>
          <a:prstGeom prst="rect">
            <a:avLst/>
          </a:prstGeom>
          <a:noFill/>
        </p:spPr>
        <p:txBody>
          <a:bodyPr wrap="square" lIns="0" rIns="0" tIns="0" bIns="0" anchor="t">
            <a:spAutoFit/>
          </a:bodyPr>
          <a:lstStyle/>
          <a:p>
            <a:pPr algn="ctr">
              <a:buNone/>
            </a:pPr>
            <a:r>
              <a:rPr sz="1100" i="1">
                <a:solidFill>
                  <a:srgbClr val="444444"/>
                </a:solidFill>
                <a:latin typeface="Times New Roman"/>
              </a:rPr>
              <a:t>API keys remain in the server layer; generated projects receive only approved source and configuration examples.</a:t>
            </a:r>
          </a:p>
        </p:txBody>
      </p:sp>
      <p:sp>
        <p:nvSpPr>
          <p:cNvPr id="4" name="Slide Number Placeholder 3">
            <a:extLst>
              <a:ext uri="{FF2B5EF4-FFF2-40B4-BE49-F238E27FC236}">
                <a16:creationId xmlns:a16="http://schemas.microsoft.com/office/drawing/2014/main" id="{535B6E70-8782-7CF1-A492-D7C8D753238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7</a:t>
            </a:fld>
            <a:endParaRPr lang="en-IN"/>
          </a:p>
        </p:txBody>
      </p:sp>
      <p:sp>
        <p:nvSpPr>
          <p:cNvPr id="31" name="TextBox 30"/>
          <p:cNvSpPr txBox="1"/>
          <p:nvPr/>
        </p:nvSpPr>
        <p:spPr>
          <a:xfrm>
            <a:off x="457200" y="6492240"/>
            <a:ext cx="1828800" cy="256032"/>
          </a:xfrm>
          <a:prstGeom prst="rect">
            <a:avLst/>
          </a:prstGeom>
          <a:noFill/>
        </p:spPr>
        <p:txBody>
          <a:bodyPr wrap="square" lIns="0" rIns="0" tIns="0" bIns="0" anchor="t">
            <a:spAutoFit/>
          </a:bodyPr>
          <a:lstStyle/>
          <a:p>
            <a:pPr algn="l">
              <a:buNone/>
            </a:pPr>
            <a:r>
              <a:rPr sz="1050">
                <a:solidFill>
                  <a:srgbClr val="000000"/>
                </a:solidFill>
                <a:latin typeface="Arial"/>
              </a:rPr>
              <a:t>Dept. of CSE,BMSIT&amp;M</a:t>
            </a:r>
          </a:p>
        </p:txBody>
      </p:sp>
      <p:sp>
        <p:nvSpPr>
          <p:cNvPr id="32" name="TextBox 31"/>
          <p:cNvSpPr txBox="1"/>
          <p:nvPr/>
        </p:nvSpPr>
        <p:spPr>
          <a:xfrm>
            <a:off x="2011680" y="6492240"/>
            <a:ext cx="5120640" cy="256032"/>
          </a:xfrm>
          <a:prstGeom prst="rect">
            <a:avLst/>
          </a:prstGeom>
          <a:noFill/>
        </p:spPr>
        <p:txBody>
          <a:bodyPr wrap="square" lIns="0" rIns="0" tIns="0" bIns="0" anchor="t">
            <a:spAutoFit/>
          </a:bodyPr>
          <a:lstStyle/>
          <a:p>
            <a:pPr algn="ctr">
              <a:buNone/>
            </a:pPr>
            <a:r>
              <a:rPr sz="1050">
                <a:solidFill>
                  <a:srgbClr val="000000"/>
                </a:solidFill>
                <a:latin typeface="Arial"/>
              </a:rPr>
              <a:t>7th Semester, MAJOR PROJECT PHASE-2 (BCS705) REVIEW ‘1</a:t>
            </a:r>
          </a:p>
        </p:txBody>
      </p:sp>
      <p:sp>
        <p:nvSpPr>
          <p:cNvPr id="33" name="TextBox 32"/>
          <p:cNvSpPr txBox="1"/>
          <p:nvPr/>
        </p:nvSpPr>
        <p:spPr>
          <a:xfrm>
            <a:off x="7178040" y="6492240"/>
            <a:ext cx="1143000" cy="256032"/>
          </a:xfrm>
          <a:prstGeom prst="rect">
            <a:avLst/>
          </a:prstGeom>
          <a:noFill/>
        </p:spPr>
        <p:txBody>
          <a:bodyPr wrap="square" lIns="0" rIns="0" tIns="0" bIns="0" anchor="t">
            <a:spAutoFit/>
          </a:bodyPr>
          <a:lstStyle/>
          <a:p>
            <a:pPr algn="r">
              <a:buNone/>
            </a:pPr>
            <a:r>
              <a:rPr sz="1050">
                <a:solidFill>
                  <a:srgbClr val="000000"/>
                </a:solidFill>
                <a:latin typeface="Arial"/>
              </a:rPr>
              <a:t>AY : 2026-27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rIns="0" tIns="0" bIns="0" anchor="ctr" wrap="square"/>
          <a:lstStyle/>
          <a:p>
            <a:pPr algn="l">
              <a:buNone/>
            </a:pPr>
            <a:r>
              <a:rPr sz="3200" b="0">
                <a:solidFill>
                  <a:srgbClr val="D6262B"/>
                </a:solidFill>
                <a:latin typeface="Times New Roman"/>
              </a:rPr>
              <a:t>DATA FLOW DIAGRAM</a:t>
            </a:r>
          </a:p>
        </p:txBody>
      </p:sp>
      <p:sp>
        <p:nvSpPr>
          <p:cNvPr id="3" name="Text Placeholder 2"/>
          <p:cNvSpPr>
            <a:spLocks noGrp="1"/>
          </p:cNvSpPr>
          <p:nvPr>
            <p:ph type="body" idx="1"/>
          </p:nvPr>
        </p:nvSpPr>
        <p:spPr/>
        <p:txBody>
          <a:bodyPr/>
          <a:lstStyle/>
          <a:p/>
        </p:txBody>
      </p:sp>
      <p:sp>
        <p:nvSpPr>
          <p:cNvPr id="6" name="Rounded Rectangle 5"/>
          <p:cNvSpPr/>
          <p:nvPr/>
        </p:nvSpPr>
        <p:spPr>
          <a:xfrm>
            <a:off x="1965960" y="1298448"/>
            <a:ext cx="5212080" cy="502920"/>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50" b="1">
                <a:solidFill>
                  <a:srgbClr val="000000"/>
                </a:solidFill>
                <a:latin typeface="Times New Roman"/>
              </a:rPr>
              <a:t>User Prompt</a:t>
            </a:r>
          </a:p>
          <a:p>
            <a:pPr algn="ctr">
              <a:spcBef>
                <a:spcPts val="100"/>
              </a:spcBef>
              <a:buNone/>
            </a:pPr>
            <a:r>
              <a:rPr sz="1000">
                <a:solidFill>
                  <a:srgbClr val="444444"/>
                </a:solidFill>
                <a:latin typeface="Times New Roman"/>
              </a:rPr>
              <a:t>Product features, users, content and visual direction</a:t>
            </a:r>
          </a:p>
        </p:txBody>
      </p:sp>
      <p:sp>
        <p:nvSpPr>
          <p:cNvPr id="7" name="Down Arrow 6"/>
          <p:cNvSpPr/>
          <p:nvPr/>
        </p:nvSpPr>
        <p:spPr>
          <a:xfrm>
            <a:off x="4443984" y="1815084"/>
            <a:ext cx="256032" cy="150876"/>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965960" y="1975104"/>
            <a:ext cx="5212080" cy="50292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50" b="1">
                <a:solidFill>
                  <a:srgbClr val="000000"/>
                </a:solidFill>
                <a:latin typeface="Times New Roman"/>
              </a:rPr>
              <a:t>Requirement &amp; Product-Intent Extraction</a:t>
            </a:r>
          </a:p>
          <a:p>
            <a:pPr algn="ctr">
              <a:spcBef>
                <a:spcPts val="100"/>
              </a:spcBef>
              <a:buNone/>
            </a:pPr>
            <a:r>
              <a:rPr sz="1000">
                <a:solidFill>
                  <a:srgbClr val="444444"/>
                </a:solidFill>
                <a:latin typeface="Times New Roman"/>
              </a:rPr>
              <a:t>Creates structured scope and assumptions</a:t>
            </a:r>
          </a:p>
        </p:txBody>
      </p:sp>
      <p:sp>
        <p:nvSpPr>
          <p:cNvPr id="9" name="Down Arrow 8"/>
          <p:cNvSpPr/>
          <p:nvPr/>
        </p:nvSpPr>
        <p:spPr>
          <a:xfrm>
            <a:off x="4443984" y="2491740"/>
            <a:ext cx="256032" cy="150876"/>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965960" y="2651760"/>
            <a:ext cx="5212080" cy="50292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50" b="1">
                <a:solidFill>
                  <a:srgbClr val="000000"/>
                </a:solidFill>
                <a:latin typeface="Times New Roman"/>
              </a:rPr>
              <a:t>ARCHITECTURE.md Proposal</a:t>
            </a:r>
          </a:p>
          <a:p>
            <a:pPr algn="ctr">
              <a:spcBef>
                <a:spcPts val="100"/>
              </a:spcBef>
              <a:buNone/>
            </a:pPr>
            <a:r>
              <a:rPr sz="1000">
                <a:solidFill>
                  <a:srgbClr val="444444"/>
                </a:solidFill>
                <a:latin typeface="Times New Roman"/>
              </a:rPr>
              <a:t>Frontend, backend, data, security and test plan</a:t>
            </a:r>
          </a:p>
        </p:txBody>
      </p:sp>
      <p:sp>
        <p:nvSpPr>
          <p:cNvPr id="11" name="Down Arrow 10"/>
          <p:cNvSpPr/>
          <p:nvPr/>
        </p:nvSpPr>
        <p:spPr>
          <a:xfrm>
            <a:off x="4443984" y="3168396"/>
            <a:ext cx="256032" cy="150876"/>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65960" y="3328415"/>
            <a:ext cx="5212080" cy="502920"/>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50" b="1">
                <a:solidFill>
                  <a:srgbClr val="000000"/>
                </a:solidFill>
                <a:latin typeface="Times New Roman"/>
              </a:rPr>
              <a:t>User Review</a:t>
            </a:r>
          </a:p>
          <a:p>
            <a:pPr algn="ctr">
              <a:spcBef>
                <a:spcPts val="100"/>
              </a:spcBef>
              <a:buNone/>
            </a:pPr>
            <a:r>
              <a:rPr sz="1000">
                <a:solidFill>
                  <a:srgbClr val="444444"/>
                </a:solidFill>
                <a:latin typeface="Times New Roman"/>
              </a:rPr>
              <a:t>Edit the prompt or confirm the architecture</a:t>
            </a:r>
          </a:p>
        </p:txBody>
      </p:sp>
      <p:sp>
        <p:nvSpPr>
          <p:cNvPr id="13" name="Down Arrow 12"/>
          <p:cNvSpPr/>
          <p:nvPr/>
        </p:nvSpPr>
        <p:spPr>
          <a:xfrm>
            <a:off x="4443984" y="3845051"/>
            <a:ext cx="256032" cy="150876"/>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4005072"/>
            <a:ext cx="2496312" cy="502920"/>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00" b="1">
                <a:solidFill>
                  <a:srgbClr val="000000"/>
                </a:solidFill>
                <a:latin typeface="Times New Roman"/>
              </a:rPr>
              <a:t>Frontend Generation</a:t>
            </a:r>
          </a:p>
          <a:p>
            <a:pPr algn="ctr">
              <a:spcBef>
                <a:spcPts val="100"/>
              </a:spcBef>
              <a:buNone/>
            </a:pPr>
            <a:r>
              <a:rPr sz="950">
                <a:solidFill>
                  <a:srgbClr val="444444"/>
                </a:solidFill>
                <a:latin typeface="Times New Roman"/>
              </a:rPr>
              <a:t>React and responsive UI</a:t>
            </a:r>
          </a:p>
        </p:txBody>
      </p:sp>
      <p:sp>
        <p:nvSpPr>
          <p:cNvPr id="15" name="Rounded Rectangle 14"/>
          <p:cNvSpPr/>
          <p:nvPr/>
        </p:nvSpPr>
        <p:spPr>
          <a:xfrm>
            <a:off x="4681728" y="4005072"/>
            <a:ext cx="2496312" cy="502920"/>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00" b="1">
                <a:solidFill>
                  <a:srgbClr val="000000"/>
                </a:solidFill>
                <a:latin typeface="Times New Roman"/>
              </a:rPr>
              <a:t>Backend Generation</a:t>
            </a:r>
          </a:p>
          <a:p>
            <a:pPr algn="ctr">
              <a:spcBef>
                <a:spcPts val="100"/>
              </a:spcBef>
              <a:buNone/>
            </a:pPr>
            <a:r>
              <a:rPr sz="950">
                <a:solidFill>
                  <a:srgbClr val="444444"/>
                </a:solidFill>
                <a:latin typeface="Times New Roman"/>
              </a:rPr>
              <a:t>Python API and shared contract</a:t>
            </a:r>
          </a:p>
        </p:txBody>
      </p:sp>
      <p:sp>
        <p:nvSpPr>
          <p:cNvPr id="16" name="Down Arrow 15"/>
          <p:cNvSpPr/>
          <p:nvPr/>
        </p:nvSpPr>
        <p:spPr>
          <a:xfrm>
            <a:off x="4443984" y="4521707"/>
            <a:ext cx="256032" cy="150876"/>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965960" y="4681728"/>
            <a:ext cx="5212080" cy="502920"/>
          </a:xfrm>
          <a:prstGeom prst="roundRect">
            <a:avLst/>
          </a:prstGeom>
          <a:solidFill>
            <a:srgbClr val="FFFFFF"/>
          </a:solidFill>
          <a:ln w="14604">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50" b="1">
                <a:solidFill>
                  <a:srgbClr val="000000"/>
                </a:solidFill>
                <a:latin typeface="Times New Roman"/>
              </a:rPr>
              <a:t>Review, Tests and Code Graph</a:t>
            </a:r>
          </a:p>
          <a:p>
            <a:pPr algn="ctr">
              <a:spcBef>
                <a:spcPts val="100"/>
              </a:spcBef>
              <a:buNone/>
            </a:pPr>
            <a:r>
              <a:rPr sz="1000">
                <a:solidFill>
                  <a:srgbClr val="444444"/>
                </a:solidFill>
                <a:latin typeface="Times New Roman"/>
              </a:rPr>
              <a:t>Checks behavior and maps requirements to files</a:t>
            </a:r>
          </a:p>
        </p:txBody>
      </p:sp>
      <p:sp>
        <p:nvSpPr>
          <p:cNvPr id="18" name="Down Arrow 17"/>
          <p:cNvSpPr/>
          <p:nvPr/>
        </p:nvSpPr>
        <p:spPr>
          <a:xfrm>
            <a:off x="4443984" y="5198364"/>
            <a:ext cx="256032" cy="150876"/>
          </a:xfrm>
          <a:prstGeom prst="downArrow">
            <a:avLst/>
          </a:prstGeom>
          <a:solidFill>
            <a:srgbClr val="D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965960" y="5358383"/>
            <a:ext cx="5212080" cy="502920"/>
          </a:xfrm>
          <a:prstGeom prst="roundRect">
            <a:avLst/>
          </a:prstGeom>
          <a:solidFill>
            <a:srgbClr val="FCEEEF"/>
          </a:solidFill>
          <a:ln w="14604">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250" b="1">
                <a:solidFill>
                  <a:srgbClr val="000000"/>
                </a:solidFill>
                <a:latin typeface="Times New Roman"/>
              </a:rPr>
              <a:t>Project Workspace</a:t>
            </a:r>
          </a:p>
          <a:p>
            <a:pPr algn="ctr">
              <a:spcBef>
                <a:spcPts val="100"/>
              </a:spcBef>
              <a:buNone/>
            </a:pPr>
            <a:r>
              <a:rPr sz="1000">
                <a:solidFill>
                  <a:srgbClr val="444444"/>
                </a:solidFill>
                <a:latin typeface="Times New Roman"/>
              </a:rPr>
              <a:t>Files, preview, versions, restore and ZIP export</a:t>
            </a:r>
          </a:p>
        </p:txBody>
      </p:sp>
      <p:sp>
        <p:nvSpPr>
          <p:cNvPr id="20" name="Rounded Rectangle 19"/>
          <p:cNvSpPr/>
          <p:nvPr/>
        </p:nvSpPr>
        <p:spPr>
          <a:xfrm>
            <a:off x="420624" y="3310128"/>
            <a:ext cx="1261872" cy="658368"/>
          </a:xfrm>
          <a:prstGeom prst="roundRect">
            <a:avLst/>
          </a:prstGeom>
          <a:solidFill>
            <a:srgbClr val="FCEEEF"/>
          </a:solidFill>
          <a:ln>
            <a:solidFill>
              <a:srgbClr val="D6262B"/>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buNone/>
            </a:pPr>
            <a:r>
              <a:rPr sz="1050">
                <a:solidFill>
                  <a:srgbClr val="D6262B"/>
                </a:solidFill>
                <a:latin typeface="Times New Roman"/>
              </a:rPr>
              <a:t>Edit returns to the prompt before any source is generated</a:t>
            </a:r>
          </a:p>
        </p:txBody>
      </p:sp>
      <p:sp>
        <p:nvSpPr>
          <p:cNvPr id="4" name="Slide Number Placeholder 3">
            <a:extLst>
              <a:ext uri="{FF2B5EF4-FFF2-40B4-BE49-F238E27FC236}">
                <a16:creationId xmlns:a16="http://schemas.microsoft.com/office/drawing/2014/main" id="{535B6E70-8782-7CF1-A492-D7C8D753238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7</a:t>
            </a:fld>
            <a:endParaRPr lang="en-IN"/>
          </a:p>
        </p:txBody>
      </p:sp>
      <p:sp>
        <p:nvSpPr>
          <p:cNvPr id="21" name="TextBox 20"/>
          <p:cNvSpPr txBox="1"/>
          <p:nvPr/>
        </p:nvSpPr>
        <p:spPr>
          <a:xfrm>
            <a:off x="457200" y="6492240"/>
            <a:ext cx="1828800" cy="256032"/>
          </a:xfrm>
          <a:prstGeom prst="rect">
            <a:avLst/>
          </a:prstGeom>
          <a:noFill/>
        </p:spPr>
        <p:txBody>
          <a:bodyPr wrap="square" lIns="0" rIns="0" tIns="0" bIns="0" anchor="t">
            <a:spAutoFit/>
          </a:bodyPr>
          <a:lstStyle/>
          <a:p>
            <a:pPr algn="l">
              <a:buNone/>
            </a:pPr>
            <a:r>
              <a:rPr sz="1050">
                <a:solidFill>
                  <a:srgbClr val="000000"/>
                </a:solidFill>
                <a:latin typeface="Arial"/>
              </a:rPr>
              <a:t>Dept. of CSE,BMSIT&amp;M</a:t>
            </a:r>
          </a:p>
        </p:txBody>
      </p:sp>
      <p:sp>
        <p:nvSpPr>
          <p:cNvPr id="22" name="TextBox 21"/>
          <p:cNvSpPr txBox="1"/>
          <p:nvPr/>
        </p:nvSpPr>
        <p:spPr>
          <a:xfrm>
            <a:off x="2011680" y="6492240"/>
            <a:ext cx="5120640" cy="256032"/>
          </a:xfrm>
          <a:prstGeom prst="rect">
            <a:avLst/>
          </a:prstGeom>
          <a:noFill/>
        </p:spPr>
        <p:txBody>
          <a:bodyPr wrap="square" lIns="0" rIns="0" tIns="0" bIns="0" anchor="t">
            <a:spAutoFit/>
          </a:bodyPr>
          <a:lstStyle/>
          <a:p>
            <a:pPr algn="ctr">
              <a:buNone/>
            </a:pPr>
            <a:r>
              <a:rPr sz="1050">
                <a:solidFill>
                  <a:srgbClr val="000000"/>
                </a:solidFill>
                <a:latin typeface="Arial"/>
              </a:rPr>
              <a:t>7th Semester, MAJOR PROJECT PHASE-2 (BCS705) REVIEW ‘1</a:t>
            </a:r>
          </a:p>
        </p:txBody>
      </p:sp>
      <p:sp>
        <p:nvSpPr>
          <p:cNvPr id="23" name="TextBox 22"/>
          <p:cNvSpPr txBox="1"/>
          <p:nvPr/>
        </p:nvSpPr>
        <p:spPr>
          <a:xfrm>
            <a:off x="7178040" y="6492240"/>
            <a:ext cx="1143000" cy="256032"/>
          </a:xfrm>
          <a:prstGeom prst="rect">
            <a:avLst/>
          </a:prstGeom>
          <a:noFill/>
        </p:spPr>
        <p:txBody>
          <a:bodyPr wrap="square" lIns="0" rIns="0" tIns="0" bIns="0" anchor="t">
            <a:spAutoFit/>
          </a:bodyPr>
          <a:lstStyle/>
          <a:p>
            <a:pPr algn="r">
              <a:buNone/>
            </a:pPr>
            <a:r>
              <a:rPr sz="1050">
                <a:solidFill>
                  <a:srgbClr val="000000"/>
                </a:solidFill>
                <a:latin typeface="Arial"/>
              </a:rPr>
              <a:t>AY : 2026-27</a:t>
            </a:r>
          </a:p>
        </p:txBody>
      </p:sp>
    </p:spTree>
  </p:cSld>
  <p:clrMapOvr>
    <a:masterClrMapping/>
  </p:clrMapOvr>
</p:sld>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701</Words>
  <Application>Microsoft Office PowerPoint</Application>
  <PresentationFormat>On-screen Show (4:3)</PresentationFormat>
  <Paragraphs>128</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Century Schoolbook</vt:lpstr>
      <vt:lpstr>Roboto</vt:lpstr>
      <vt:lpstr>Calibri</vt:lpstr>
      <vt:lpstr>Bookman Old Style</vt:lpstr>
      <vt:lpstr>Cambria Math</vt:lpstr>
      <vt:lpstr>Arial Black</vt:lpstr>
      <vt:lpstr>Times New Roman</vt:lpstr>
      <vt:lpstr>Arial</vt:lpstr>
      <vt:lpstr>Essential</vt:lpstr>
      <vt:lpstr>PowerPoint Presentation</vt:lpstr>
      <vt:lpstr>CONTENT </vt:lpstr>
      <vt:lpstr>ABSTRACT</vt:lpstr>
      <vt:lpstr>INTRODUCTION</vt:lpstr>
      <vt:lpstr>PROBLEM STATEMENT</vt:lpstr>
      <vt:lpstr>OBJECTIVES OF THE WORK</vt:lpstr>
      <vt:lpstr>METHODOLOGY </vt:lpstr>
      <vt:lpstr>DEMONSTRATION OF PROJECT EXECUTION</vt:lpstr>
      <vt:lpstr>Experimental Setup, Results &amp; Analysis</vt:lpstr>
      <vt:lpstr>PROJECT STATUS, CONCLUSION </vt:lpstr>
      <vt:lpstr>PUBLICATIONS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BMSIT</cp:lastModifiedBy>
  <cp:revision>13</cp:revision>
  <dcterms:modified xsi:type="dcterms:W3CDTF">2026-08-27T04:08:44Z</dcterms:modified>
</cp:coreProperties>
</file>